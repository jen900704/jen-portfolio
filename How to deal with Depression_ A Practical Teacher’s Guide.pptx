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5" r:id="rId2"/>
    <p:sldId id="257" r:id="rId3"/>
    <p:sldId id="286" r:id="rId4"/>
    <p:sldId id="293" r:id="rId5"/>
    <p:sldId id="292" r:id="rId6"/>
    <p:sldId id="259" r:id="rId7"/>
    <p:sldId id="289" r:id="rId8"/>
    <p:sldId id="287" r:id="rId9"/>
    <p:sldId id="291" r:id="rId10"/>
    <p:sldId id="294" r:id="rId11"/>
    <p:sldId id="272" r:id="rId12"/>
    <p:sldId id="263" r:id="rId13"/>
    <p:sldId id="264" r:id="rId14"/>
    <p:sldId id="278" r:id="rId15"/>
    <p:sldId id="279" r:id="rId16"/>
    <p:sldId id="280" r:id="rId17"/>
    <p:sldId id="281" r:id="rId18"/>
    <p:sldId id="282" r:id="rId19"/>
    <p:sldId id="283" r:id="rId20"/>
    <p:sldId id="266" r:id="rId21"/>
    <p:sldId id="268" r:id="rId22"/>
    <p:sldId id="269" r:id="rId23"/>
    <p:sldId id="270" r:id="rId24"/>
    <p:sldId id="271" r:id="rId25"/>
    <p:sldId id="284" r:id="rId26"/>
    <p:sldId id="288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2307"/>
    <a:srgbClr val="251912"/>
    <a:srgbClr val="062486"/>
    <a:srgbClr val="FDC7C7"/>
    <a:srgbClr val="FEC6F1"/>
    <a:srgbClr val="FD8DF2"/>
    <a:srgbClr val="4168EF"/>
    <a:srgbClr val="2B4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01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66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49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12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6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54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5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83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66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00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32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028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72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83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798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479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81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26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85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292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61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NEgoEgonx3U" TargetMode="External"/><Relationship Id="rId13" Type="http://schemas.openxmlformats.org/officeDocument/2006/relationships/hyperlink" Target="https://www.youtube.com/watch?v=mCQx_lSun5Q" TargetMode="External"/><Relationship Id="rId18" Type="http://schemas.openxmlformats.org/officeDocument/2006/relationships/hyperlink" Target="https://www.youtube.com/watch?v=bZuioqGM2Vs" TargetMode="External"/><Relationship Id="rId3" Type="http://schemas.openxmlformats.org/officeDocument/2006/relationships/hyperlink" Target="https://www.youtube.com/watch?v=dDQ5tgd1_HY" TargetMode="External"/><Relationship Id="rId21" Type="http://schemas.openxmlformats.org/officeDocument/2006/relationships/hyperlink" Target="https://www.youtube.com/watch?v=MkD9LM5OQSk" TargetMode="External"/><Relationship Id="rId7" Type="http://schemas.openxmlformats.org/officeDocument/2006/relationships/hyperlink" Target="https://www.youtube.com/watch?v=GVg6hnH9UnE" TargetMode="External"/><Relationship Id="rId12" Type="http://schemas.openxmlformats.org/officeDocument/2006/relationships/hyperlink" Target="https://www.youtube.com/watch?v=b5DxuMXPmCA" TargetMode="External"/><Relationship Id="rId17" Type="http://schemas.openxmlformats.org/officeDocument/2006/relationships/hyperlink" Target="https://www.youtube.com/watch?v=G5FxMp49aaA" TargetMode="External"/><Relationship Id="rId2" Type="http://schemas.openxmlformats.org/officeDocument/2006/relationships/notesSlide" Target="../notesSlides/notesSlide20.xml"/><Relationship Id="rId16" Type="http://schemas.openxmlformats.org/officeDocument/2006/relationships/hyperlink" Target="https://www.youtube.com/watch?v=uzhmBDrB8E4" TargetMode="External"/><Relationship Id="rId20" Type="http://schemas.openxmlformats.org/officeDocument/2006/relationships/hyperlink" Target="https://www.youtube.com/watch?v=wytxrXe5tUQ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35n_H7ObY-s" TargetMode="External"/><Relationship Id="rId11" Type="http://schemas.openxmlformats.org/officeDocument/2006/relationships/hyperlink" Target="https://www.youtube.com/watch?v=PoDQFWD_WMs" TargetMode="External"/><Relationship Id="rId5" Type="http://schemas.openxmlformats.org/officeDocument/2006/relationships/hyperlink" Target="https://www.youtube.com/watch?v=_bveeRf2NHw" TargetMode="External"/><Relationship Id="rId15" Type="http://schemas.openxmlformats.org/officeDocument/2006/relationships/hyperlink" Target="https://www.youtube.com/watch?v=fC2z69q3L0o" TargetMode="External"/><Relationship Id="rId10" Type="http://schemas.openxmlformats.org/officeDocument/2006/relationships/hyperlink" Target="https://www.youtube.com/watch?v=DiIUdXmhf-0" TargetMode="External"/><Relationship Id="rId19" Type="http://schemas.openxmlformats.org/officeDocument/2006/relationships/hyperlink" Target="https://www.youtube.com/watch?v=AZs6hBqvW_4" TargetMode="External"/><Relationship Id="rId4" Type="http://schemas.openxmlformats.org/officeDocument/2006/relationships/hyperlink" Target="https://www.youtube.com/watch?v=EkL6Qx07aiU" TargetMode="External"/><Relationship Id="rId9" Type="http://schemas.openxmlformats.org/officeDocument/2006/relationships/hyperlink" Target="https://www.youtube.com/watch?v=_PWFPbcn8To" TargetMode="External"/><Relationship Id="rId14" Type="http://schemas.openxmlformats.org/officeDocument/2006/relationships/hyperlink" Target="https://www.youtube.com/watch?v=F1NePiyFLV8" TargetMode="External"/><Relationship Id="rId22" Type="http://schemas.openxmlformats.org/officeDocument/2006/relationships/hyperlink" Target="https://www.youtube.com/watch?v=c5ASysmOH_I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Qb8fey6-5UA" TargetMode="External"/><Relationship Id="rId13" Type="http://schemas.openxmlformats.org/officeDocument/2006/relationships/hyperlink" Target="https://www.youtube.com/watch?v=MyPUY38blZQ" TargetMode="External"/><Relationship Id="rId18" Type="http://schemas.openxmlformats.org/officeDocument/2006/relationships/hyperlink" Target="https://www.youtube.com/watch?v=SFnMTHhKdkw" TargetMode="External"/><Relationship Id="rId3" Type="http://schemas.openxmlformats.org/officeDocument/2006/relationships/hyperlink" Target="https://www.youtube.com/watch?v=G_3cvSZiFVs" TargetMode="External"/><Relationship Id="rId7" Type="http://schemas.openxmlformats.org/officeDocument/2006/relationships/hyperlink" Target="https://www.youtube.com/watch?v=ziV4zZktES0" TargetMode="External"/><Relationship Id="rId12" Type="http://schemas.openxmlformats.org/officeDocument/2006/relationships/hyperlink" Target="https://www.youtube.com/watch?v=5tkgOnf48CY" TargetMode="External"/><Relationship Id="rId17" Type="http://schemas.openxmlformats.org/officeDocument/2006/relationships/hyperlink" Target="https://www.youtube.com/watch?v=stKAA-ecimk" TargetMode="External"/><Relationship Id="rId2" Type="http://schemas.openxmlformats.org/officeDocument/2006/relationships/notesSlide" Target="../notesSlides/notesSlide21.xml"/><Relationship Id="rId16" Type="http://schemas.openxmlformats.org/officeDocument/2006/relationships/hyperlink" Target="https://www.youtube.com/watch?v=NEgoEgonx3U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30VMIEmA114" TargetMode="External"/><Relationship Id="rId11" Type="http://schemas.openxmlformats.org/officeDocument/2006/relationships/hyperlink" Target="https://www.youtube.com/watch?v=zuoPZkFcLVs" TargetMode="External"/><Relationship Id="rId5" Type="http://schemas.openxmlformats.org/officeDocument/2006/relationships/hyperlink" Target="https://www.youtube.com/watch?v=8rddM0ggYKo" TargetMode="External"/><Relationship Id="rId15" Type="http://schemas.openxmlformats.org/officeDocument/2006/relationships/hyperlink" Target="https://www.youtube.com/watch?v=4ZlQ2M7ndiI" TargetMode="External"/><Relationship Id="rId10" Type="http://schemas.openxmlformats.org/officeDocument/2006/relationships/hyperlink" Target="https://www.youtube.com/watch?v=saiOiv0_DU8" TargetMode="External"/><Relationship Id="rId4" Type="http://schemas.openxmlformats.org/officeDocument/2006/relationships/hyperlink" Target="https://www.youtube.com/watch?v=X8HDwFH4X_M" TargetMode="External"/><Relationship Id="rId9" Type="http://schemas.openxmlformats.org/officeDocument/2006/relationships/hyperlink" Target="https://www.youtube.com/watch?v=MBYlRmUurJ8" TargetMode="External"/><Relationship Id="rId14" Type="http://schemas.openxmlformats.org/officeDocument/2006/relationships/hyperlink" Target="https://www.youtube.com/watch?v=cnODLSFocZc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0qnYXCLk5bQ" TargetMode="External"/><Relationship Id="rId13" Type="http://schemas.openxmlformats.org/officeDocument/2006/relationships/hyperlink" Target="https://www.youtube.com/watch?v=kVcVMFNvrLc" TargetMode="External"/><Relationship Id="rId18" Type="http://schemas.openxmlformats.org/officeDocument/2006/relationships/hyperlink" Target="https://www.youtube.com/watch?v=soHn6t_jjIw" TargetMode="External"/><Relationship Id="rId3" Type="http://schemas.openxmlformats.org/officeDocument/2006/relationships/hyperlink" Target="https://www.youtube.com/watch?v=NEgoEgonx3U" TargetMode="External"/><Relationship Id="rId7" Type="http://schemas.openxmlformats.org/officeDocument/2006/relationships/hyperlink" Target="https://www.youtube.com/watch?v=FhG-VoRtkKY" TargetMode="External"/><Relationship Id="rId12" Type="http://schemas.openxmlformats.org/officeDocument/2006/relationships/hyperlink" Target="https://www.youtube.com/watch?v=x6DBPHC0ye8" TargetMode="External"/><Relationship Id="rId17" Type="http://schemas.openxmlformats.org/officeDocument/2006/relationships/hyperlink" Target="https://www.youtube.com/watch?v=qBbEXJ-Uqi0" TargetMode="External"/><Relationship Id="rId2" Type="http://schemas.openxmlformats.org/officeDocument/2006/relationships/notesSlide" Target="../notesSlides/notesSlide22.xml"/><Relationship Id="rId16" Type="http://schemas.openxmlformats.org/officeDocument/2006/relationships/hyperlink" Target="https://www.youtube.com/watch?v=dlRAypXW5Cw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3Nf2Pzcketg" TargetMode="External"/><Relationship Id="rId11" Type="http://schemas.openxmlformats.org/officeDocument/2006/relationships/hyperlink" Target="https://www.youtube.com/watch?v=9lZOond9srU" TargetMode="External"/><Relationship Id="rId5" Type="http://schemas.openxmlformats.org/officeDocument/2006/relationships/hyperlink" Target="https://www.youtube.com/watch?v=GQSfW4xrKSk" TargetMode="External"/><Relationship Id="rId15" Type="http://schemas.openxmlformats.org/officeDocument/2006/relationships/hyperlink" Target="https://www.youtube.com/watch?v=5BEmcnsa8Oc" TargetMode="External"/><Relationship Id="rId10" Type="http://schemas.openxmlformats.org/officeDocument/2006/relationships/hyperlink" Target="https://www.youtube.com/watch?v=yu5GPsnxBS4" TargetMode="External"/><Relationship Id="rId4" Type="http://schemas.openxmlformats.org/officeDocument/2006/relationships/hyperlink" Target="https://www.youtube.com/watch?v=8Swu8iiuFx4" TargetMode="External"/><Relationship Id="rId9" Type="http://schemas.openxmlformats.org/officeDocument/2006/relationships/hyperlink" Target="https://www.youtube.com/watch?v=-RZ86OB9hw4" TargetMode="External"/><Relationship Id="rId14" Type="http://schemas.openxmlformats.org/officeDocument/2006/relationships/hyperlink" Target="https://www.youtube.com/watch?v=h1b0oGx2ilc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H9Hnisaqlns" TargetMode="External"/><Relationship Id="rId13" Type="http://schemas.openxmlformats.org/officeDocument/2006/relationships/hyperlink" Target="https://www.youtube.com/watch?v=-J7HcVLsCrY" TargetMode="External"/><Relationship Id="rId18" Type="http://schemas.openxmlformats.org/officeDocument/2006/relationships/hyperlink" Target="https://www.youtube.com/watch?v=jC3_kNISw_g" TargetMode="External"/><Relationship Id="rId26" Type="http://schemas.openxmlformats.org/officeDocument/2006/relationships/hyperlink" Target="https://www.youtube.com/watch?v=VaruOweSbSI" TargetMode="External"/><Relationship Id="rId3" Type="http://schemas.openxmlformats.org/officeDocument/2006/relationships/hyperlink" Target="https://www.youtube.com/watch?v=5YtnpPPnqaY" TargetMode="External"/><Relationship Id="rId21" Type="http://schemas.openxmlformats.org/officeDocument/2006/relationships/hyperlink" Target="https://www.youtube.com/watch?v=7F2SbWCOIaU" TargetMode="External"/><Relationship Id="rId7" Type="http://schemas.openxmlformats.org/officeDocument/2006/relationships/hyperlink" Target="https://www.youtube.com/watch?v=RiMb2Bw4Ae8" TargetMode="External"/><Relationship Id="rId12" Type="http://schemas.openxmlformats.org/officeDocument/2006/relationships/hyperlink" Target="https://www.youtube.com/watch?v=Va8ewW7nUVE" TargetMode="External"/><Relationship Id="rId17" Type="http://schemas.openxmlformats.org/officeDocument/2006/relationships/hyperlink" Target="https://www.youtube.com/watch?v=3Nf2Pzcketg" TargetMode="External"/><Relationship Id="rId25" Type="http://schemas.openxmlformats.org/officeDocument/2006/relationships/hyperlink" Target="https://www.youtube.com/watch?v=Itp21tly8nM&amp;list=PLRnAhAymA0dRbPB7q2uafRBVBfw0Hy_X6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www.youtube.com/watch?v=tY8NY6CMDFA" TargetMode="External"/><Relationship Id="rId20" Type="http://schemas.openxmlformats.org/officeDocument/2006/relationships/hyperlink" Target="https://www.youtube.com/watch?v=b_oS2lyTECo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f3_Ew7ejOo4" TargetMode="External"/><Relationship Id="rId11" Type="http://schemas.openxmlformats.org/officeDocument/2006/relationships/hyperlink" Target="https://www.youtube.com/watch?v=8_FMxPo4xDM&amp;list=PLRnAhAymA0dRbPB7q2uafRBVBfw0Hy_X6&amp;index=2" TargetMode="External"/><Relationship Id="rId24" Type="http://schemas.openxmlformats.org/officeDocument/2006/relationships/hyperlink" Target="https://www.youtube.com/watch?v=CEPw4CEGc1o" TargetMode="External"/><Relationship Id="rId5" Type="http://schemas.openxmlformats.org/officeDocument/2006/relationships/hyperlink" Target="https://www.youtube.com/watch?v=sDYx9qM_ygg&amp;list=PLRnAhAymA0dRbPB7q2uafRBVBfw0Hy_X6&amp;index=3" TargetMode="External"/><Relationship Id="rId15" Type="http://schemas.openxmlformats.org/officeDocument/2006/relationships/hyperlink" Target="https://www.youtube.com/watch?v=v0ZX7ErBm_U&amp;list=PLRnAhAymA0dRbPB7q2uafRBVBfw0Hy_X6&amp;index=6" TargetMode="External"/><Relationship Id="rId23" Type="http://schemas.openxmlformats.org/officeDocument/2006/relationships/hyperlink" Target="https://www.youtube.com/watch?v=F5lfN-LIZpA" TargetMode="External"/><Relationship Id="rId28" Type="http://schemas.openxmlformats.org/officeDocument/2006/relationships/hyperlink" Target="https://www.youtube.com/watch?v=Myf2CUx9E60&amp;list=PLRnAhAymA0dRbPB7q2uafRBVBfw0Hy_X6&amp;index=5" TargetMode="External"/><Relationship Id="rId10" Type="http://schemas.openxmlformats.org/officeDocument/2006/relationships/hyperlink" Target="https://www.youtube.com/watch?v=eAhQXwolrDU" TargetMode="External"/><Relationship Id="rId19" Type="http://schemas.openxmlformats.org/officeDocument/2006/relationships/hyperlink" Target="https://www.youtube.com/watch?v=PFtHZRAp8qQ" TargetMode="External"/><Relationship Id="rId4" Type="http://schemas.openxmlformats.org/officeDocument/2006/relationships/hyperlink" Target="https://www.youtube.com/watch?v=r3m-h-GV-n8" TargetMode="External"/><Relationship Id="rId9" Type="http://schemas.openxmlformats.org/officeDocument/2006/relationships/hyperlink" Target="https://www.youtube.com/watch?v=qDeU72FtWjQ" TargetMode="External"/><Relationship Id="rId14" Type="http://schemas.openxmlformats.org/officeDocument/2006/relationships/hyperlink" Target="https://www.youtube.com/watch?v=JA6npdZ9Zrw" TargetMode="External"/><Relationship Id="rId22" Type="http://schemas.openxmlformats.org/officeDocument/2006/relationships/hyperlink" Target="https://www.youtube.com/watch?v=IU1xFldaO0k" TargetMode="External"/><Relationship Id="rId27" Type="http://schemas.openxmlformats.org/officeDocument/2006/relationships/hyperlink" Target="https://www.youtube.com/watch?v=uGNK91bbirA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D43861C-8B4B-4153-9E3E-480D3BDE53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37719" cy="51435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58DC7A2-4E60-41A2-8F08-34DC15D6BC29}"/>
              </a:ext>
            </a:extLst>
          </p:cNvPr>
          <p:cNvSpPr/>
          <p:nvPr/>
        </p:nvSpPr>
        <p:spPr>
          <a:xfrm>
            <a:off x="2980706" y="4348967"/>
            <a:ext cx="2772897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effectLst/>
              </a:rPr>
              <a:t>2025-07-28 Hsiang-Chen Yeh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1E85E18-93D7-47FF-8CEC-2C43D6DCD9B9}"/>
              </a:ext>
            </a:extLst>
          </p:cNvPr>
          <p:cNvSpPr txBox="1"/>
          <p:nvPr/>
        </p:nvSpPr>
        <p:spPr>
          <a:xfrm>
            <a:off x="2037080" y="1352352"/>
            <a:ext cx="5288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Supporting Students with Depression: </a:t>
            </a:r>
            <a:br>
              <a:rPr lang="en-US" sz="3600" b="1" dirty="0">
                <a:solidFill>
                  <a:schemeClr val="bg1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</a:br>
            <a:r>
              <a:rPr lang="en-US" sz="3600" b="1" dirty="0">
                <a:solidFill>
                  <a:schemeClr val="bg1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A Practical Guide for Teachers</a:t>
            </a:r>
            <a:endParaRPr lang="en-US" sz="3600" b="1" dirty="0">
              <a:solidFill>
                <a:schemeClr val="bg1"/>
              </a:solidFill>
              <a:effectLst/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081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3250" y="676894"/>
            <a:ext cx="5091113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D2307"/>
                </a:solidFill>
                <a:effectLst/>
              </a:rPr>
              <a:t>CONTENTS</a:t>
            </a:r>
            <a:endParaRPr lang="en-US" sz="4000" b="1" dirty="0">
              <a:solidFill>
                <a:srgbClr val="4D2307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057710" y="1776982"/>
            <a:ext cx="5791928" cy="2700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200000"/>
              </a:lnSpc>
            </a:pPr>
            <a:r>
              <a:rPr lang="en-US" sz="1600" dirty="0">
                <a:effectLst/>
              </a:rPr>
              <a:t>💡 </a:t>
            </a:r>
            <a:r>
              <a:rPr lang="en-US" sz="1600" dirty="0"/>
              <a:t>Why Early Recognition of Depression in Schools Matters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effectLst/>
              </a:rPr>
              <a:t>🧩 Evidence-Based Strategies to Support Students with Depression 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effectLst/>
              </a:rPr>
              <a:t>🗣️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Action Sentence Starters for Daily Classroom Use</a:t>
            </a:r>
            <a:b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</a:br>
            <a:r>
              <a:rPr lang="en-US" sz="1600" b="1" dirty="0">
                <a:solidFill>
                  <a:srgbClr val="0624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🎞</a:t>
            </a:r>
            <a:r>
              <a:rPr lang="en-US" sz="1600" dirty="0">
                <a:cs typeface="Noto Sans SC" pitchFamily="34" charset="-120"/>
              </a:rPr>
              <a:t> </a:t>
            </a:r>
            <a:r>
              <a:rPr lang="en-US" altLang="zh-TW" sz="1600" dirty="0">
                <a:effectLst/>
                <a:ea typeface="Noto Sans HK" panose="020B0200000000000000" pitchFamily="34" charset="-120"/>
              </a:rPr>
              <a:t>Video Library</a:t>
            </a:r>
            <a:endParaRPr lang="en-US" sz="1600" dirty="0">
              <a:ea typeface="Noto Sans HK" panose="020B0200000000000000" pitchFamily="34" charset="-120"/>
            </a:endParaRPr>
          </a:p>
          <a:p>
            <a:pPr>
              <a:lnSpc>
                <a:spcPct val="200000"/>
              </a:lnSpc>
            </a:pPr>
            <a:endParaRPr lang="en-US" sz="1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CD4A43-2B0E-44D7-9218-F7EF21EF7E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" y="0"/>
            <a:ext cx="25053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2022" y="2491345"/>
            <a:ext cx="6935189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570" b="1" dirty="0">
                <a:solidFill>
                  <a:srgbClr val="4D230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r>
              <a:rPr lang="en-US" sz="3600" b="1" dirty="0">
                <a:solidFill>
                  <a:srgbClr val="4D2307"/>
                </a:solidFill>
                <a:effectLst/>
              </a:rPr>
              <a:t> </a:t>
            </a:r>
            <a:r>
              <a:rPr lang="en-US" sz="3600" b="1" dirty="0">
                <a:solidFill>
                  <a:srgbClr val="4D2307"/>
                </a:solidFill>
              </a:rPr>
              <a:t>Why Early Recognition of Depression in Schools Matters</a:t>
            </a:r>
            <a:endParaRPr lang="en-US" sz="3570" b="1" dirty="0">
              <a:solidFill>
                <a:srgbClr val="4D2307"/>
              </a:solidFill>
              <a:ea typeface="Noto Sans HK" panose="020B0200000000000000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FB6F31F-72C0-4900-B5DD-93C9A1CEF3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2384" y="0"/>
            <a:ext cx="9144000" cy="198991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663D362-28C4-4AD7-B759-A0B1184ACB1A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 dirty="0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01</a:t>
            </a:r>
            <a:endParaRPr lang="en-US" sz="5760" b="1" dirty="0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9921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25191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1341911" y="308015"/>
            <a:ext cx="5941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Why Early Recognition of Depression in Schools Matters</a:t>
            </a:r>
            <a:r>
              <a:rPr lang="zh-TW" altLang="en-US" b="1" dirty="0">
                <a:solidFill>
                  <a:schemeClr val="bg1"/>
                </a:solidFill>
              </a:rPr>
              <a:t> </a:t>
            </a:r>
            <a:r>
              <a:rPr lang="en-US" altLang="zh-TW" b="1" dirty="0">
                <a:solidFill>
                  <a:schemeClr val="bg1"/>
                </a:solidFill>
              </a:rPr>
              <a:t>1/2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ACDAA9E-27BD-458F-81BC-71487BFAA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57" y="1436950"/>
            <a:ext cx="8299082" cy="29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D2307"/>
                </a:solidFill>
                <a:effectLst/>
                <a:latin typeface="Arial" panose="020B0604020202020204" pitchFamily="34" charset="0"/>
              </a:rPr>
              <a:t>Children and adolescents often show different symptoms than adults.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Depression may appear as irritability, fatigue, somatic complaints (like stomachaches), or withdrawal—not necessarily sadness.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D2307"/>
                </a:solidFill>
                <a:effectLst/>
                <a:latin typeface="Arial" panose="020B0604020202020204" pitchFamily="34" charset="0"/>
              </a:rPr>
              <a:t>Untreated depression can impair academic performance.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Youth with depression often have difficulty concentrating, lower grades, and are more likely to miss school.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D2307"/>
                </a:solidFill>
                <a:effectLst/>
                <a:latin typeface="Arial" panose="020B0604020202020204" pitchFamily="34" charset="0"/>
              </a:rPr>
              <a:t>Depression in youth is linked to long-term mental health risks.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If unrecognized, childhood depression can increase the risk of persistent depressive disorder, substance abuse, and suicidal ideation in later years.</a:t>
            </a:r>
          </a:p>
        </p:txBody>
      </p:sp>
    </p:spTree>
    <p:extLst>
      <p:ext uri="{BB962C8B-B14F-4D97-AF65-F5344CB8AC3E}">
        <p14:creationId xmlns:p14="http://schemas.microsoft.com/office/powerpoint/2010/main" val="282927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25191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1341911" y="308015"/>
            <a:ext cx="5941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Why Early Recognition of Depression in Schools Matters</a:t>
            </a:r>
            <a:r>
              <a:rPr lang="zh-TW" altLang="en-US" b="1" dirty="0">
                <a:solidFill>
                  <a:schemeClr val="bg1"/>
                </a:solidFill>
              </a:rPr>
              <a:t> </a:t>
            </a:r>
            <a:r>
              <a:rPr lang="en-US" altLang="zh-TW" b="1" dirty="0">
                <a:solidFill>
                  <a:schemeClr val="bg1"/>
                </a:solidFill>
              </a:rPr>
              <a:t>2/2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ACDAA9E-27BD-458F-81BC-71487BFAA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57" y="1518369"/>
            <a:ext cx="8299082" cy="29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D2307"/>
                </a:solidFill>
                <a:effectLst/>
                <a:latin typeface="Arial" panose="020B0604020202020204" pitchFamily="34" charset="0"/>
              </a:rPr>
              <a:t>Teachers are in a unique position to notice early warning signs.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As consistent adult figures in students’ lives, teachers can detect shifts in behavior, motivation, or peer interaction that may go unnoticed by others.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D2307"/>
                </a:solidFill>
                <a:effectLst/>
                <a:latin typeface="Arial" panose="020B0604020202020204" pitchFamily="34" charset="0"/>
              </a:rPr>
              <a:t>School-based interventions are effective.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Early recognition enables referral to school-based support programs, which have been shown to reduce depressive symptoms and prevent escalation.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4D2307"/>
                </a:solidFill>
                <a:effectLst/>
                <a:latin typeface="Arial" panose="020B0604020202020204" pitchFamily="34" charset="0"/>
              </a:rPr>
              <a:t>Creating a supportive classroom environment helps all students.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Fostering emotional safety and connection can mitigate depressive symptoms, especially in marginalized or high-risk students.</a:t>
            </a:r>
          </a:p>
        </p:txBody>
      </p:sp>
    </p:spTree>
    <p:extLst>
      <p:ext uri="{BB962C8B-B14F-4D97-AF65-F5344CB8AC3E}">
        <p14:creationId xmlns:p14="http://schemas.microsoft.com/office/powerpoint/2010/main" val="56459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25191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660"/>
          </a:p>
        </p:txBody>
      </p:sp>
      <p:sp>
        <p:nvSpPr>
          <p:cNvPr id="4" name="Text 2"/>
          <p:cNvSpPr/>
          <p:nvPr/>
        </p:nvSpPr>
        <p:spPr>
          <a:xfrm>
            <a:off x="807720" y="1020188"/>
            <a:ext cx="7715250" cy="6143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Depression in students often looks different than in adults. Teachers are often the first to notice these shifts in behavior, mood, or academic performance.</a:t>
            </a:r>
            <a:br>
              <a:rPr lang="en-US" sz="1600" dirty="0">
                <a:effectLst/>
              </a:rPr>
            </a:br>
            <a:endParaRPr lang="en-US" sz="168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1341911" y="308015"/>
            <a:ext cx="537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Understanding Childhood and Adolescent Depression</a:t>
            </a:r>
            <a:endParaRPr lang="en-US" b="1" dirty="0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278B1F7A-D92E-4DEB-8AC0-A1C03FE43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092779"/>
              </p:ext>
            </p:extLst>
          </p:nvPr>
        </p:nvGraphicFramePr>
        <p:xfrm>
          <a:off x="818346" y="1627828"/>
          <a:ext cx="7517934" cy="331088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505978">
                  <a:extLst>
                    <a:ext uri="{9D8B030D-6E8A-4147-A177-3AD203B41FA5}">
                      <a16:colId xmlns:a16="http://schemas.microsoft.com/office/drawing/2014/main" val="2600434513"/>
                    </a:ext>
                  </a:extLst>
                </a:gridCol>
                <a:gridCol w="2505978">
                  <a:extLst>
                    <a:ext uri="{9D8B030D-6E8A-4147-A177-3AD203B41FA5}">
                      <a16:colId xmlns:a16="http://schemas.microsoft.com/office/drawing/2014/main" val="4060798878"/>
                    </a:ext>
                  </a:extLst>
                </a:gridCol>
                <a:gridCol w="2505978">
                  <a:extLst>
                    <a:ext uri="{9D8B030D-6E8A-4147-A177-3AD203B41FA5}">
                      <a16:colId xmlns:a16="http://schemas.microsoft.com/office/drawing/2014/main" val="17935913"/>
                    </a:ext>
                  </a:extLst>
                </a:gridCol>
              </a:tblGrid>
              <a:tr h="591501">
                <a:tc>
                  <a:txBody>
                    <a:bodyPr/>
                    <a:lstStyle/>
                    <a:p>
                      <a:r>
                        <a:rPr lang="en-US" sz="1400" dirty="0"/>
                        <a:t>Symptom 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 Children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 Adolescents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422412"/>
                  </a:ext>
                </a:extLst>
              </a:tr>
              <a:tr h="591501">
                <a:tc>
                  <a:txBody>
                    <a:bodyPr/>
                    <a:lstStyle/>
                    <a:p>
                      <a:r>
                        <a:rPr lang="en-US" sz="1400" b="1"/>
                        <a:t>Emotion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Irritability, tearfulness, clinginess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Sadness, hopelessness, withdrawal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852479"/>
                  </a:ext>
                </a:extLst>
              </a:tr>
              <a:tr h="591501">
                <a:tc>
                  <a:txBody>
                    <a:bodyPr/>
                    <a:lstStyle/>
                    <a:p>
                      <a:r>
                        <a:rPr lang="en-US" sz="1400" b="1"/>
                        <a:t>Cognition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Trouble focusing, self-blame, academic decline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 self-esteem; hopelessness or a sense of meaninglessness; thoughts like “Nothing matters” or “What’s the point?”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547695"/>
                  </a:ext>
                </a:extLst>
              </a:tr>
              <a:tr h="591501">
                <a:tc>
                  <a:txBody>
                    <a:bodyPr/>
                    <a:lstStyle/>
                    <a:p>
                      <a:r>
                        <a:rPr lang="en-US" sz="1400" b="1"/>
                        <a:t>Behavior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Sleep/appetite changes, stomachaches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Isolation, skipping class, self-harm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850309"/>
                  </a:ext>
                </a:extLst>
              </a:tr>
              <a:tr h="591501">
                <a:tc>
                  <a:txBody>
                    <a:bodyPr/>
                    <a:lstStyle/>
                    <a:p>
                      <a:r>
                        <a:rPr lang="en-US" sz="1400" b="1"/>
                        <a:t>Language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“I’m tired,” “My tummy hurts”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“Nothing matters,” “I’m a failure”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D23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042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25191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660"/>
          </a:p>
        </p:txBody>
      </p:sp>
      <p:sp>
        <p:nvSpPr>
          <p:cNvPr id="4" name="Text 2"/>
          <p:cNvSpPr/>
          <p:nvPr/>
        </p:nvSpPr>
        <p:spPr>
          <a:xfrm>
            <a:off x="495666" y="1625561"/>
            <a:ext cx="8073024" cy="6143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/>
              <a:t>You are not expected to diagnose or treat depression. However, you can be a:</a:t>
            </a:r>
            <a:br>
              <a:rPr lang="en-US" sz="2000" dirty="0">
                <a:effectLst/>
              </a:rPr>
            </a:br>
            <a:endParaRPr lang="en-US"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1341911" y="308015"/>
            <a:ext cx="537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Your Role as a Teacher</a:t>
            </a:r>
            <a:endParaRPr lang="en-US" b="1" dirty="0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B2E27CF-B6EA-4C3E-990F-B33DDFAD4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29" y="2571750"/>
            <a:ext cx="7715574" cy="1493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Notice changes in mood, energy, participation.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Provide a safe, compassionate space.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Refer students to school counselors or mental health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61832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FB6F31F-72C0-4900-B5DD-93C9A1CEF3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2384" y="0"/>
            <a:ext cx="9144000" cy="198991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6BC0E67-E7AD-4DDE-9795-A27ADFF76965}"/>
              </a:ext>
            </a:extLst>
          </p:cNvPr>
          <p:cNvSpPr/>
          <p:nvPr/>
        </p:nvSpPr>
        <p:spPr>
          <a:xfrm>
            <a:off x="865905" y="2556658"/>
            <a:ext cx="7106979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D2307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🧩 </a:t>
            </a:r>
            <a:r>
              <a:rPr lang="en-US" sz="3600" b="1" dirty="0">
                <a:solidFill>
                  <a:srgbClr val="4D2307"/>
                </a:solidFill>
                <a:effectLst/>
              </a:rPr>
              <a:t>Evidence-Based Strategies to Support Students with Depression</a:t>
            </a:r>
            <a:endParaRPr lang="en-US" sz="3600" b="1" dirty="0">
              <a:solidFill>
                <a:srgbClr val="4D2307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76A989-3332-4842-B7A1-AB5630C36775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 dirty="0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02</a:t>
            </a:r>
            <a:endParaRPr lang="en-US" sz="5760" b="1" dirty="0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243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40199" y="0"/>
            <a:ext cx="7823391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2307"/>
                </a:solidFill>
                <a:latin typeface="Noto Sans HK" panose="020B0200000000000000" pitchFamily="34" charset="-120"/>
                <a:ea typeface="Noto Sans HK" panose="020B0200000000000000" pitchFamily="34" charset="-120"/>
                <a:cs typeface="Noto Sans SC" pitchFamily="34" charset="-120"/>
              </a:rPr>
              <a:t>🧩 </a:t>
            </a:r>
            <a:r>
              <a:rPr lang="en-US" sz="1600" b="1" dirty="0">
                <a:solidFill>
                  <a:srgbClr val="4D2307"/>
                </a:solidFill>
                <a:latin typeface="Noto Sans HK" panose="020B0200000000000000" pitchFamily="34" charset="-120"/>
                <a:ea typeface="Noto Sans HK" panose="020B0200000000000000" pitchFamily="34" charset="-120"/>
              </a:rPr>
              <a:t>Evidence-Based Strategies to Support Students with Depression</a:t>
            </a: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908318"/>
              </p:ext>
            </p:extLst>
          </p:nvPr>
        </p:nvGraphicFramePr>
        <p:xfrm>
          <a:off x="440199" y="457567"/>
          <a:ext cx="8263599" cy="4685933"/>
        </p:xfrm>
        <a:graphic>
          <a:graphicData uri="http://schemas.openxmlformats.org/drawingml/2006/table">
            <a:tbl>
              <a:tblPr/>
              <a:tblGrid>
                <a:gridCol w="2726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6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000" b="1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You Can Do</a:t>
                      </a:r>
                      <a:endParaRPr lang="en-US" sz="1000" b="1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Works</a:t>
                      </a:r>
                      <a:endParaRPr lang="en-US" sz="1000" b="1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657">
                <a:tc>
                  <a:txBody>
                    <a:bodyPr/>
                    <a:lstStyle/>
                    <a:p>
                      <a:r>
                        <a:rPr lang="en-US" sz="900" b="1" dirty="0"/>
                        <a:t>Emotional Expression &amp; Processing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Assign structured expressive writing tasks (e.g., 15–20 mins/day for 3–4 days) where students write about personal stress or emotions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Improves mood and working memory in children; reduces depressive and anxiety symptoms (</a:t>
                      </a:r>
                      <a:r>
                        <a:rPr lang="en-US" sz="900" dirty="0" err="1"/>
                        <a:t>Fartoukh</a:t>
                      </a:r>
                      <a:r>
                        <a:rPr lang="en-US" sz="900" dirty="0"/>
                        <a:t> &amp; </a:t>
                      </a:r>
                      <a:r>
                        <a:rPr lang="en-US" sz="900" dirty="0" err="1"/>
                        <a:t>Chanquoy</a:t>
                      </a:r>
                      <a:r>
                        <a:rPr lang="en-US" sz="900" dirty="0"/>
                        <a:t>, 2020; Pennebaker protocol)</a:t>
                      </a:r>
                      <a:r>
                        <a:rPr lang="zh-TW" altLang="en-US" sz="900" dirty="0"/>
                        <a:t> </a:t>
                      </a:r>
                      <a:r>
                        <a:rPr lang="en-US" altLang="zh-TW" sz="900" dirty="0">
                          <a:highlight>
                            <a:srgbClr val="FFFF00"/>
                          </a:highlight>
                        </a:rPr>
                        <a:t>Teachers?</a:t>
                      </a:r>
                      <a:endParaRPr lang="en-US" sz="9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818">
                <a:tc>
                  <a:txBody>
                    <a:bodyPr/>
                    <a:lstStyle/>
                    <a:p>
                      <a:r>
                        <a:rPr lang="en-US" sz="900" b="1" dirty="0"/>
                        <a:t>Create a Safe Writing Space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Allow ungraded, private journaling; emphasize confidentiality and emotional safety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Therapeutic journaling is a process of self-reflection and expression that supports emotional awareness, stress management, and healing (University of Wisconsin, 2020).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818">
                <a:tc>
                  <a:txBody>
                    <a:bodyPr/>
                    <a:lstStyle/>
                    <a:p>
                      <a:r>
                        <a:rPr lang="en-US" sz="900" b="1" dirty="0"/>
                        <a:t>Foster School Connectedness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Build positive classroom climate, peer belonging, teacher-student trust, and encourage participation in school life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Strong sense of school connectedness is a protective factor against depression and anxiety (</a:t>
                      </a:r>
                      <a:r>
                        <a:rPr lang="en-US" sz="900" dirty="0" err="1"/>
                        <a:t>Raniti</a:t>
                      </a:r>
                      <a:r>
                        <a:rPr lang="en-US" sz="900" dirty="0"/>
                        <a:t> et al., 2022)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818">
                <a:tc>
                  <a:txBody>
                    <a:bodyPr/>
                    <a:lstStyle/>
                    <a:p>
                      <a:r>
                        <a:rPr lang="en-US" sz="900" b="1"/>
                        <a:t>Identify and Support At-Risk Students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Watch for signs like withdrawal, frequent absences, low mood, or academic decline; offer quiet check-ins or referrals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Empathetic teacher engagement helps identify struggling students early (Gee et al., 2020)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818">
                <a:tc>
                  <a:txBody>
                    <a:bodyPr/>
                    <a:lstStyle/>
                    <a:p>
                      <a:r>
                        <a:rPr lang="en-US" sz="900" b="1"/>
                        <a:t>Implement Selective Interventions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Use evidence-based programs (e.g., CBT-based FRIENDS) with students showing early signs of emotional distress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FRIENDS programs reduce anxiety and depressive symptoms effectively, especially when delivered by mental health professionals (</a:t>
                      </a:r>
                      <a:r>
                        <a:rPr lang="en-US" sz="900" dirty="0" err="1"/>
                        <a:t>Fisak</a:t>
                      </a:r>
                      <a:r>
                        <a:rPr lang="en-US" sz="900" dirty="0"/>
                        <a:t> et al., 2023)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818">
                <a:tc>
                  <a:txBody>
                    <a:bodyPr/>
                    <a:lstStyle/>
                    <a:p>
                      <a:r>
                        <a:rPr lang="en-US" sz="900" b="1" dirty="0"/>
                        <a:t>Encourage Physical Activity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Promote regular physical movement (e.g., PE, walking, active breaks, or after-school sports, 3× per week)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Physical activity is linked to reduced depressive symptoms in adolescents, especially those over 13 (Recchia et al., 2023)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818">
                <a:tc>
                  <a:txBody>
                    <a:bodyPr/>
                    <a:lstStyle/>
                    <a:p>
                      <a:r>
                        <a:rPr lang="en-US" sz="900" b="1" dirty="0"/>
                        <a:t>Collaborate with Counseling Resources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Partner with school counselors, mental health teams, and families to co-monitor and support students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Most students don’t seek help independently — school-based systems improve access (Gee et al., 2020)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589940"/>
                  </a:ext>
                </a:extLst>
              </a:tr>
              <a:tr h="463818">
                <a:tc>
                  <a:txBody>
                    <a:bodyPr/>
                    <a:lstStyle/>
                    <a:p>
                      <a:r>
                        <a:rPr lang="en-US" sz="900" b="1" dirty="0"/>
                        <a:t>Know Your Role — Support, Not Solve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Teachers are not therapists.</a:t>
                      </a:r>
                      <a:r>
                        <a:rPr lang="en-US" sz="900" dirty="0"/>
                        <a:t> Being a calm, supportive adult who listens, provides safety, and connects students to resources is already powerful and healing.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“Relationships are the agents of change and the most powerful therapy is human love.”</a:t>
                      </a:r>
                      <a:br>
                        <a:rPr lang="en-US" sz="900" dirty="0"/>
                      </a:br>
                      <a:r>
                        <a:rPr lang="en-US" sz="900" dirty="0"/>
                        <a:t>— Dr. Bruce D. Perry, </a:t>
                      </a:r>
                      <a:r>
                        <a:rPr lang="en-US" sz="900" i="1" dirty="0"/>
                        <a:t>The Boy Who Was Raised as a Dog</a:t>
                      </a:r>
                      <a:r>
                        <a:rPr lang="en-US" sz="900" dirty="0"/>
                        <a:t> (2006)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580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491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C2FE92AD-29F9-46AE-A450-50CA7B67AEFC}"/>
              </a:ext>
            </a:extLst>
          </p:cNvPr>
          <p:cNvSpPr txBox="1"/>
          <p:nvPr/>
        </p:nvSpPr>
        <p:spPr>
          <a:xfrm>
            <a:off x="1397000" y="706874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Friends program- good strategies? Activities?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What schools can do?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How can teachers introduce physical activity into classroom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Sentence starters : how to bring up these topics </a:t>
            </a:r>
          </a:p>
          <a:p>
            <a:endParaRPr lang="en-US" sz="1400" dirty="0"/>
          </a:p>
          <a:p>
            <a:r>
              <a:rPr lang="en-US" sz="1400" dirty="0"/>
              <a:t>Goal setting? Motivated</a:t>
            </a:r>
            <a:r>
              <a:rPr lang="zh-TW" altLang="en-US" sz="1400" dirty="0"/>
              <a:t>   </a:t>
            </a:r>
            <a:r>
              <a:rPr lang="en-US" altLang="zh-TW" sz="1400" dirty="0">
                <a:highlight>
                  <a:srgbClr val="FFFF00"/>
                </a:highlight>
              </a:rPr>
              <a:t>SMART</a:t>
            </a:r>
            <a:r>
              <a:rPr lang="zh-TW" altLang="en-US" sz="1400" dirty="0">
                <a:highlight>
                  <a:srgbClr val="FFFF00"/>
                </a:highlight>
              </a:rPr>
              <a:t> </a:t>
            </a:r>
            <a:r>
              <a:rPr lang="en-US" altLang="zh-TW" sz="1400" dirty="0">
                <a:highlight>
                  <a:srgbClr val="FFFF00"/>
                </a:highlight>
              </a:rPr>
              <a:t>goals</a:t>
            </a:r>
            <a:br>
              <a:rPr lang="en-US" sz="1400" dirty="0"/>
            </a:br>
            <a:r>
              <a:rPr lang="en-US" sz="1400" dirty="0"/>
              <a:t>having hard time to start assignment</a:t>
            </a:r>
          </a:p>
          <a:p>
            <a:endParaRPr lang="en-US" sz="1400" dirty="0"/>
          </a:p>
          <a:p>
            <a:r>
              <a:rPr lang="en-US" sz="1400" dirty="0"/>
              <a:t>Promoting hope/ sense of agency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Resources: +</a:t>
            </a:r>
            <a:r>
              <a:rPr lang="zh-TW" altLang="en-US" sz="1400" dirty="0"/>
              <a:t> </a:t>
            </a:r>
            <a:r>
              <a:rPr lang="en-US" sz="1400" dirty="0"/>
              <a:t>websites</a:t>
            </a:r>
          </a:p>
        </p:txBody>
      </p:sp>
    </p:spTree>
    <p:extLst>
      <p:ext uri="{BB962C8B-B14F-4D97-AF65-F5344CB8AC3E}">
        <p14:creationId xmlns:p14="http://schemas.microsoft.com/office/powerpoint/2010/main" val="1175275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251912"/>
          </a:solidFill>
          <a:ln/>
        </p:spPr>
      </p:sp>
      <p:sp>
        <p:nvSpPr>
          <p:cNvPr id="4" name="Text 2"/>
          <p:cNvSpPr/>
          <p:nvPr/>
        </p:nvSpPr>
        <p:spPr>
          <a:xfrm>
            <a:off x="3166291" y="1271569"/>
            <a:ext cx="5250269" cy="379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</a:rPr>
              <a:t>1.Build Personal Connection </a:t>
            </a:r>
            <a:br>
              <a:rPr lang="en-US" b="1" dirty="0">
                <a:effectLst/>
              </a:rPr>
            </a:br>
            <a:endParaRPr lang="en-US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505425" y="3942318"/>
            <a:ext cx="4572000" cy="464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0023CD-D730-44FB-9BD0-7D12117E20B5}"/>
              </a:ext>
            </a:extLst>
          </p:cNvPr>
          <p:cNvSpPr txBox="1"/>
          <p:nvPr/>
        </p:nvSpPr>
        <p:spPr>
          <a:xfrm>
            <a:off x="3505426" y="399008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Students feel seen and respected</a:t>
            </a:r>
            <a:endParaRPr lang="en-US" sz="18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3505425" y="2022401"/>
            <a:ext cx="4572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</a:rPr>
              <a:t>•Greet students by name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•Check in when they seem off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•Chat briefly about interests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9DADB-0968-5887-5AE3-FEBCBA82DE95}"/>
              </a:ext>
            </a:extLst>
          </p:cNvPr>
          <p:cNvSpPr txBox="1"/>
          <p:nvPr/>
        </p:nvSpPr>
        <p:spPr>
          <a:xfrm>
            <a:off x="6924252" y="4688355"/>
            <a:ext cx="12990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(Goodenow,</a:t>
            </a:r>
            <a:r>
              <a:rPr lang="zh-TW" alt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1993)</a:t>
            </a:r>
            <a:r>
              <a:rPr lang="en-US" sz="1100" dirty="0">
                <a:solidFill>
                  <a:schemeClr val="accent2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​</a:t>
            </a:r>
            <a:endParaRPr lang="en-US"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流程圖: 卡片 10">
            <a:extLst>
              <a:ext uri="{FF2B5EF4-FFF2-40B4-BE49-F238E27FC236}">
                <a16:creationId xmlns:a16="http://schemas.microsoft.com/office/drawing/2014/main" id="{6060356E-CDBD-47FC-8213-9613D20F3886}"/>
              </a:ext>
            </a:extLst>
          </p:cNvPr>
          <p:cNvSpPr/>
          <p:nvPr/>
        </p:nvSpPr>
        <p:spPr>
          <a:xfrm flipH="1">
            <a:off x="276386" y="1148314"/>
            <a:ext cx="2236484" cy="3648025"/>
          </a:xfrm>
          <a:prstGeom prst="flowChartPunchedCard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38D2D7DC-1FF8-4DCE-AB4D-1FD2AA545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54" y="1291098"/>
            <a:ext cx="2116349" cy="3362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rgbClr val="062486"/>
                </a:solidFill>
                <a:effectLst/>
              </a:rPr>
              <a:t>What Is “Wise Feedback”?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Wise feedback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powerful teaching strategy that pairs </a:t>
            </a: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expectations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explicit reassurance and support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It tells students: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“I’m giving you this feedback because I know you’re capable of succeeding.”</a:t>
            </a:r>
            <a:endParaRPr kumimoji="0" lang="en-US" altLang="en-US" sz="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type of feedback is especially effective for students who may feel unsure if they belong—such as those affected by stereotype threat or self-doubt. When teachers express belief in a student’s potential </a:t>
            </a: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 the support to reach it, it helps students:</a:t>
            </a:r>
            <a:b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Feel seen and respected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Stay motivated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resilience and confidence</a:t>
            </a:r>
            <a:b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rgbClr val="062486"/>
                </a:solidFill>
                <a:effectLst/>
              </a:rPr>
              <a:t>Why it matters:</a:t>
            </a:r>
            <a:br>
              <a:rPr lang="en-US" altLang="en-US" sz="850" dirty="0"/>
            </a:b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Research (Cohen et al., 2006) shows that wise feedback improves performance, strengthens trust between teachers and students, and combats stereotype threat by affirming students’ value and ability.</a:t>
            </a:r>
          </a:p>
        </p:txBody>
      </p:sp>
    </p:spTree>
    <p:extLst>
      <p:ext uri="{BB962C8B-B14F-4D97-AF65-F5344CB8AC3E}">
        <p14:creationId xmlns:p14="http://schemas.microsoft.com/office/powerpoint/2010/main" val="48870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A50A54D-C143-471F-93FA-40C01DCB0B5F}"/>
              </a:ext>
            </a:extLst>
          </p:cNvPr>
          <p:cNvSpPr txBox="1"/>
          <p:nvPr/>
        </p:nvSpPr>
        <p:spPr>
          <a:xfrm>
            <a:off x="1656902" y="2557311"/>
            <a:ext cx="55285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rgbClr val="0624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r>
              <a:rPr lang="en-US" sz="3600">
                <a:cs typeface="Noto Sans SC" pitchFamily="34" charset="-120"/>
              </a:rPr>
              <a:t> </a:t>
            </a:r>
            <a:r>
              <a:rPr lang="en-US" sz="3600" b="1">
                <a:solidFill>
                  <a:srgbClr val="062486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Sentence Starters for Daily Classroom Use</a:t>
            </a:r>
            <a:endParaRPr lang="en-US" sz="3600" b="1">
              <a:solidFill>
                <a:srgbClr val="062486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DAF5339-353A-42C7-8FA1-EF7577DB07AB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03</a:t>
            </a:r>
            <a:endParaRPr lang="en-US" sz="576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52053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1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301262"/>
              </p:ext>
            </p:extLst>
          </p:nvPr>
        </p:nvGraphicFramePr>
        <p:xfrm>
          <a:off x="285008" y="1128157"/>
          <a:ext cx="8573984" cy="3718998"/>
        </p:xfrm>
        <a:graphic>
          <a:graphicData uri="http://schemas.openxmlformats.org/drawingml/2006/table">
            <a:tbl>
              <a:tblPr/>
              <a:tblGrid>
                <a:gridCol w="428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FFFFFF"/>
                          </a:solidFill>
                        </a:rPr>
                        <a:t>Suggested Language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</a:rPr>
                        <a:t>A student seems withdrawn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“I noticed you were quiet today—want to talk about it?”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Giving feedback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“I’m giving you this feedback because I know you can grow even more.”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After group work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“Thanks for being such a great teammate—your role really mattered.”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Addressing the class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“In our classroom, everyone’s voice and story matter.”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Discussing struggle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“Most students feel unsure at first. It doesn’t mean you don’t belong.”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Welcoming cultural sharing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“That tradition is so meaningful—thanks for sharing it with us.”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B1D9FAF-3787-4013-B214-8B41D8E874DC}"/>
              </a:ext>
            </a:extLst>
          </p:cNvPr>
          <p:cNvSpPr txBox="1"/>
          <p:nvPr/>
        </p:nvSpPr>
        <p:spPr>
          <a:xfrm>
            <a:off x="1282535" y="296347"/>
            <a:ext cx="5961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Sentence Starters for Daily Classroom Use</a:t>
            </a:r>
            <a:endParaRPr lang="en-US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475049" y="1527900"/>
            <a:ext cx="5250269" cy="379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  <a:ea typeface="新細明體"/>
              </a:rPr>
              <a:t>1.</a:t>
            </a:r>
            <a:r>
              <a:rPr lang="en-US" sz="1800" b="1">
                <a:solidFill>
                  <a:srgbClr val="000000"/>
                </a:solidFill>
              </a:rPr>
              <a:t> A student seems </a:t>
            </a:r>
            <a:r>
              <a:rPr lang="en-US" b="1">
                <a:solidFill>
                  <a:srgbClr val="000000"/>
                </a:solidFill>
              </a:rPr>
              <a:t>withdrawn</a:t>
            </a: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4045057" y="2258901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569005" y="2453521"/>
            <a:ext cx="3421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“I noticed you were quiet today—want to talk about it?”</a:t>
            </a:r>
            <a:endParaRPr lang="en-US" sz="1800" i="1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F76DA89-3DC3-4C2F-9911-0A170E3C500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512" y="1634778"/>
            <a:ext cx="3595329" cy="27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64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425735" y="930721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zh-TW" sz="1800" b="1" dirty="0">
                <a:solidFill>
                  <a:srgbClr val="000000"/>
                </a:solidFill>
              </a:rPr>
              <a:t>2.</a:t>
            </a:r>
            <a:r>
              <a:rPr lang="en-US" sz="1800" b="1" dirty="0">
                <a:solidFill>
                  <a:srgbClr val="000000"/>
                </a:solidFill>
              </a:rPr>
              <a:t> Giving feedback</a:t>
            </a:r>
            <a:endParaRPr lang="en-US" sz="1800" b="1" dirty="0"/>
          </a:p>
          <a:p>
            <a:pPr marL="0" indent="0" algn="ctr">
              <a:buNone/>
            </a:pPr>
            <a:br>
              <a:rPr lang="en-US" b="1" dirty="0">
                <a:effectLst/>
              </a:rPr>
            </a:b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883984" y="1660838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202681" y="1836580"/>
            <a:ext cx="3785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0000"/>
                </a:solidFill>
              </a:rPr>
              <a:t>“I’m giving you this feedback because I know you can grow even more.”</a:t>
            </a:r>
            <a:endParaRPr lang="en-US" sz="1800" i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90FBBE-0FF8-436A-845E-777D71E187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85000"/>
          </a:blip>
          <a:stretch>
            <a:fillRect/>
          </a:stretch>
        </p:blipFill>
        <p:spPr>
          <a:xfrm>
            <a:off x="766425" y="861072"/>
            <a:ext cx="2752079" cy="179758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344518F-B96C-42E9-9CC6-6E7E34F98807}"/>
              </a:ext>
            </a:extLst>
          </p:cNvPr>
          <p:cNvSpPr txBox="1"/>
          <p:nvPr/>
        </p:nvSpPr>
        <p:spPr>
          <a:xfrm>
            <a:off x="551946" y="2901554"/>
            <a:ext cx="4193353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062486"/>
                </a:solidFill>
              </a:rPr>
              <a:t>More Feedback Strategies That Show You Believe in Students:  </a:t>
            </a:r>
            <a:r>
              <a:rPr lang="en-US" sz="900" b="1" dirty="0">
                <a:solidFill>
                  <a:srgbClr val="FF0000"/>
                </a:solidFill>
              </a:rPr>
              <a:t>Six slides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1. Name the Strength First</a:t>
            </a:r>
          </a:p>
          <a:p>
            <a:r>
              <a:rPr lang="en-US" sz="850" b="1" dirty="0"/>
              <a:t>“You explained your idea really clearly here — let’s see how we can add more details to make it even stronger.”</a:t>
            </a:r>
          </a:p>
          <a:p>
            <a:r>
              <a:rPr lang="en-US" sz="850" dirty="0"/>
              <a:t>Starts with encouragement and builds momentum for improvement.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2. Be Specific, Not Generic</a:t>
            </a:r>
          </a:p>
          <a:p>
            <a:r>
              <a:rPr lang="en-US" sz="850" dirty="0"/>
              <a:t>Instead of “Good job,” say:</a:t>
            </a:r>
          </a:p>
          <a:p>
            <a:r>
              <a:rPr lang="en-US" sz="850" b="1" dirty="0"/>
              <a:t>“I like how you supported your opinion with an example from the story.”</a:t>
            </a:r>
          </a:p>
          <a:p>
            <a:r>
              <a:rPr lang="en-US" sz="850" dirty="0"/>
              <a:t>Helps students know exactly what to keep doing and builds confidence.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3. Focus on Effort and Process</a:t>
            </a:r>
          </a:p>
          <a:p>
            <a:r>
              <a:rPr lang="en-US" sz="850" b="1" dirty="0"/>
              <a:t>“I can tell you worked hard to organize your thoughts — let’s keep building on that.”</a:t>
            </a:r>
          </a:p>
          <a:p>
            <a:r>
              <a:rPr lang="en-US" sz="850" dirty="0"/>
              <a:t>Reinforces a growth mindset and values persistence.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89FEFAD-AD6E-4DC9-ADE1-39AA4A9552DD}"/>
              </a:ext>
            </a:extLst>
          </p:cNvPr>
          <p:cNvSpPr txBox="1"/>
          <p:nvPr/>
        </p:nvSpPr>
        <p:spPr>
          <a:xfrm>
            <a:off x="4789140" y="3152455"/>
            <a:ext cx="409807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b="1" dirty="0">
                <a:solidFill>
                  <a:srgbClr val="062486"/>
                </a:solidFill>
              </a:rPr>
              <a:t>4. Invite Student Reflection</a:t>
            </a:r>
          </a:p>
          <a:p>
            <a:r>
              <a:rPr lang="en-US" sz="850" b="1" dirty="0"/>
              <a:t>“How did you feel about this part? Where do you think you improved?”</a:t>
            </a:r>
          </a:p>
          <a:p>
            <a:r>
              <a:rPr lang="en-US" sz="850" dirty="0"/>
              <a:t>Encourages ownership and deeper engagement with learning.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5. Connect to Progress Over Time</a:t>
            </a:r>
          </a:p>
          <a:p>
            <a:r>
              <a:rPr lang="en-US" sz="850" b="1" dirty="0"/>
              <a:t>“Last month this was tough for you, but now look at how much clearer your writing is!”</a:t>
            </a:r>
          </a:p>
          <a:p>
            <a:r>
              <a:rPr lang="en-US" sz="850" dirty="0"/>
              <a:t>Makes growth visible and motivates continued effort.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6. Use Encouraging Language for Mistakes</a:t>
            </a:r>
          </a:p>
          <a:p>
            <a:r>
              <a:rPr lang="en-US" sz="850" b="1" dirty="0"/>
              <a:t>“Mistakes are part of learning — I’m glad you took a risk here. Let’s see how we can revise it.”</a:t>
            </a:r>
          </a:p>
          <a:p>
            <a:r>
              <a:rPr lang="en-US" sz="850" dirty="0"/>
              <a:t>Normalizes struggle and reduces fear of failure.</a:t>
            </a:r>
          </a:p>
        </p:txBody>
      </p:sp>
    </p:spTree>
    <p:extLst>
      <p:ext uri="{BB962C8B-B14F-4D97-AF65-F5344CB8AC3E}">
        <p14:creationId xmlns:p14="http://schemas.microsoft.com/office/powerpoint/2010/main" val="76560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359950" y="1703642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</a:rPr>
              <a:t>3. </a:t>
            </a:r>
            <a:r>
              <a:rPr lang="en-US" sz="1800" b="1">
                <a:solidFill>
                  <a:srgbClr val="000000"/>
                </a:solidFill>
              </a:rPr>
              <a:t>After group work</a:t>
            </a:r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976741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091839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“Thanks for being such a great teammate—your role really mattered.”</a:t>
            </a:r>
            <a:endParaRPr lang="en-US" sz="1800" i="1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166DFC8-60E0-4AF6-AD82-ADC05EEE12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297" y="1044506"/>
            <a:ext cx="3155791" cy="342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359950" y="1703642"/>
            <a:ext cx="5250269" cy="379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  <a:ea typeface="新細明體"/>
              </a:rPr>
              <a:t>4.</a:t>
            </a:r>
            <a:r>
              <a:rPr lang="en-US" sz="1800" b="1">
                <a:solidFill>
                  <a:srgbClr val="000000"/>
                </a:solidFill>
              </a:rPr>
              <a:t> </a:t>
            </a:r>
            <a:r>
              <a:rPr lang="en-US" b="1">
                <a:solidFill>
                  <a:srgbClr val="000000"/>
                </a:solidFill>
              </a:rPr>
              <a:t>Addressing the class</a:t>
            </a:r>
            <a:endParaRPr lang="en-US" sz="1800" b="1"/>
          </a:p>
          <a:p>
            <a:pPr algn="ctr"/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976741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091839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“In our classroom, everyone’s voice and story matter.”</a:t>
            </a:r>
            <a:endParaRPr lang="en-US" sz="1800" i="1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81D97B-23C9-4259-A6C4-3001566DF7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5536" y="1261700"/>
            <a:ext cx="3401205" cy="310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12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4208795" y="1777500"/>
            <a:ext cx="4005354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</a:rPr>
              <a:t>5.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Normalizing Struggles in Peer Settings</a:t>
            </a:r>
            <a:endParaRPr lang="en-US" sz="1800" b="1" dirty="0"/>
          </a:p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br>
              <a:rPr lang="en-US" b="1" dirty="0">
                <a:effectLst/>
              </a:rPr>
            </a:b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976741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091839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“Most students feel unsure at first. It doesn’t mean you don’t belong.”</a:t>
            </a:r>
            <a:endParaRPr lang="en-US" sz="1800" i="1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FECED70-D18A-4A19-A951-3CB7DBC1F1B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8598" y="754798"/>
            <a:ext cx="3173044" cy="435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15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443077" y="1703642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</a:rPr>
              <a:t>6.</a:t>
            </a:r>
            <a:r>
              <a:rPr lang="en-US" sz="1800" b="1">
                <a:solidFill>
                  <a:srgbClr val="000000"/>
                </a:solidFill>
              </a:rPr>
              <a:t> Welcoming cultural sharing</a:t>
            </a:r>
            <a:endParaRPr lang="en-US" sz="1800" b="1"/>
          </a:p>
          <a:p>
            <a:pPr algn="ctr"/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4059868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174966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“That tradition is so meaningful—thanks for sharing it with us.”</a:t>
            </a:r>
            <a:endParaRPr lang="en-US" sz="1800" i="1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870411-E3A2-44BB-8A60-70EA5888F9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5180" y="1459856"/>
            <a:ext cx="3661560" cy="28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93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A50A54D-C143-471F-93FA-40C01DCB0B5F}"/>
              </a:ext>
            </a:extLst>
          </p:cNvPr>
          <p:cNvSpPr txBox="1"/>
          <p:nvPr/>
        </p:nvSpPr>
        <p:spPr>
          <a:xfrm>
            <a:off x="1656902" y="2628563"/>
            <a:ext cx="5528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rgbClr val="0624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🎞</a:t>
            </a:r>
            <a:r>
              <a:rPr lang="en-US" sz="3600">
                <a:cs typeface="Noto Sans SC" pitchFamily="34" charset="-120"/>
              </a:rPr>
              <a:t> </a:t>
            </a:r>
            <a:r>
              <a:rPr lang="en-US" altLang="zh-TW" sz="3600" b="1">
                <a:solidFill>
                  <a:srgbClr val="062486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Video Library</a:t>
            </a:r>
            <a:endParaRPr lang="en-US" sz="3600" b="1">
              <a:solidFill>
                <a:srgbClr val="062486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E894ED-CB21-41B4-BB55-3BAC9909D106}"/>
              </a:ext>
            </a:extLst>
          </p:cNvPr>
          <p:cNvSpPr txBox="1"/>
          <p:nvPr/>
        </p:nvSpPr>
        <p:spPr>
          <a:xfrm>
            <a:off x="1126671" y="3846409"/>
            <a:ext cx="68906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>
                <a:effectLst/>
                <a:ea typeface="Times New Roman" panose="02020603050405020304" pitchFamily="18" charset="0"/>
              </a:rPr>
              <a:t>Family’s Videos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b="1" kern="0">
                <a:effectLst/>
                <a:ea typeface="Times New Roman" panose="02020603050405020304" pitchFamily="18" charset="0"/>
              </a:rPr>
              <a:t>|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sz="1800" b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Teachers’ Videos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b="1" kern="0">
                <a:effectLst/>
                <a:ea typeface="Times New Roman" panose="02020603050405020304" pitchFamily="18" charset="0"/>
              </a:rPr>
              <a:t>|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sz="1800" b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Teens’ Videos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b="1" kern="0">
                <a:effectLst/>
                <a:ea typeface="Times New Roman" panose="02020603050405020304" pitchFamily="18" charset="0"/>
              </a:rPr>
              <a:t>|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sz="1800" b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Children’s Videos</a:t>
            </a:r>
            <a:endParaRPr lang="en-US" sz="18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sz="18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sz="18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187AB6-4EFC-48EF-934D-F7F66645F06B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04</a:t>
            </a:r>
            <a:endParaRPr lang="en-US" sz="576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617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Family’s Videos</a:t>
            </a:r>
            <a:endParaRPr lang="en-US" sz="240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418966" y="1052811"/>
            <a:ext cx="446618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TW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Promoting Child and Teen Mental Well-being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3"/>
              </a:rPr>
              <a:t>How families can support a child's mental health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4"/>
              </a:rPr>
              <a:t>A parent's perspective on children's mental illness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5"/>
              </a:rPr>
              <a:t>The Importance of Raising an Emotionally Intelligent Child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6"/>
              </a:rPr>
              <a:t>Raising Happy Teenagers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Resilience Building for Families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7"/>
              </a:rPr>
              <a:t>The seesaw effect: building children’s resilience by emotional regulation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Exploring Teen Career Paths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8"/>
              </a:rPr>
              <a:t>Questions Every Teenager Needs to Be Asked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0" dirty="0">
              <a:solidFill>
                <a:srgbClr val="0000FF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Supporting Children and Teens with Depression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9"/>
              </a:rPr>
              <a:t>10 Ways to Help When Your Child is Depressed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0"/>
              </a:rPr>
              <a:t>Tackling Teenage Depression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1"/>
              </a:rPr>
              <a:t>How To Help Your Teen With Depression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B0F34C-770B-446C-94D2-5754BF64327D}"/>
              </a:ext>
            </a:extLst>
          </p:cNvPr>
          <p:cNvSpPr txBox="1"/>
          <p:nvPr/>
        </p:nvSpPr>
        <p:spPr>
          <a:xfrm>
            <a:off x="4816259" y="1052811"/>
            <a:ext cx="41649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Parenting a Suicidal Child or Teen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2"/>
              </a:rPr>
              <a:t>How Do I Parent My Suicidal Child/Teen?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 Supporting Children with Anxiety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3"/>
              </a:rPr>
              <a:t>Children's Anxiety: 3 Ways to Help Your Anxious Child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4"/>
              </a:rPr>
              <a:t>How to raise kids who can overcome anxiety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0" dirty="0">
              <a:solidFill>
                <a:srgbClr val="0000FF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7. Understanding and Connecting with Teens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5"/>
              </a:rPr>
              <a:t>What Teenagers Want You to Know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6"/>
              </a:rPr>
              <a:t>Be a better parent by partnering with your teen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7"/>
              </a:rPr>
              <a:t>How To Make A Shy Kid Confident</a:t>
            </a:r>
            <a:br>
              <a:rPr lang="en-US" sz="12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8. Helping Anxious Children: A 4-Part Parenting Guide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8"/>
              </a:rPr>
              <a:t>How to Help a Child With Anxiety: A Parent-Centered Approach to Managing Children’s Anxiety Part 1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9"/>
              </a:rPr>
              <a:t>How to Create Emotional Safety for a Child with Anxiety Part 2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20"/>
              </a:rPr>
              <a:t>Teach your kid to face their fears with scaffolding - Help anxious children part 3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21"/>
              </a:rPr>
              <a:t>12 Ways to Help A Child with Anxiety Part 4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22"/>
              </a:rPr>
              <a:t>10 Tips for Parenting Anxious Kids | Child Mind Institute</a:t>
            </a:r>
            <a:endParaRPr lang="en-US" sz="1200" dirty="0"/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200" kern="100" dirty="0">
              <a:solidFill>
                <a:srgbClr val="0070C0"/>
              </a:solidFill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1752C26-2FCF-4087-AC84-4664A8353F84}"/>
              </a:ext>
            </a:extLst>
          </p:cNvPr>
          <p:cNvSpPr txBox="1"/>
          <p:nvPr/>
        </p:nvSpPr>
        <p:spPr>
          <a:xfrm>
            <a:off x="3480113" y="397967"/>
            <a:ext cx="5088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For parents—to understand and support your child.</a:t>
            </a:r>
          </a:p>
        </p:txBody>
      </p:sp>
    </p:spTree>
    <p:extLst>
      <p:ext uri="{BB962C8B-B14F-4D97-AF65-F5344CB8AC3E}">
        <p14:creationId xmlns:p14="http://schemas.microsoft.com/office/powerpoint/2010/main" val="653662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Teachers’ Videos</a:t>
            </a:r>
            <a:endParaRPr lang="en-US" sz="2400" kern="100">
              <a:solidFill>
                <a:schemeClr val="bg1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498119" y="1222015"/>
            <a:ext cx="38416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Building Resilience in the Classroom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3"/>
              </a:rPr>
              <a:t>How to build resilient children</a:t>
            </a:r>
            <a:br>
              <a:rPr lang="en-US" sz="12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Supporting Students with Anxiety and Depression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4"/>
              </a:rPr>
              <a:t>Classroom Strategies to Support Student Depression &amp; Anxiety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5"/>
              </a:rPr>
              <a:t>Ask the experts: Depression in kids and how to help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6"/>
              </a:rPr>
              <a:t>Grounding Exercise to Manage Anxiety</a:t>
            </a:r>
            <a:br>
              <a:rPr lang="en-US" sz="12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Understanding and Supporting Students with ADHD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7"/>
              </a:rPr>
              <a:t>Strategies to Support Students with ADHD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8"/>
              </a:rPr>
              <a:t>Rethinking ADHD</a:t>
            </a:r>
            <a:br>
              <a:rPr lang="en-US" sz="1200" dirty="0"/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Engaging Teaching and Learning Strategies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9"/>
              </a:rPr>
              <a:t>How to make students (and teachers) want to go to school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B0F34C-770B-446C-94D2-5754BF64327D}"/>
              </a:ext>
            </a:extLst>
          </p:cNvPr>
          <p:cNvSpPr txBox="1"/>
          <p:nvPr/>
        </p:nvSpPr>
        <p:spPr>
          <a:xfrm>
            <a:off x="4665231" y="1222015"/>
            <a:ext cx="394260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Emotion Regulation and Student Mental Health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0"/>
              </a:rPr>
              <a:t>Why Teaching Teens Songwriting Can Make the World a Better Place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1"/>
              </a:rPr>
              <a:t>Rethinking Challenging Kids-Where There's a Skill There's a Way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2"/>
              </a:rPr>
              <a:t>Teacher’s ‘emotion check-in’ helps students share their feelings (kids)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3"/>
              </a:rPr>
              <a:t>Check-In / Check-Out: Providing a Daily Support System for Students </a:t>
            </a:r>
            <a:r>
              <a:rPr lang="en-US" altLang="zh-TW" sz="1200" dirty="0">
                <a:hlinkClick r:id="rId13"/>
              </a:rPr>
              <a:t>(kids)</a:t>
            </a:r>
            <a:endParaRPr lang="en-US" altLang="zh-TW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4"/>
              </a:rPr>
              <a:t>Managing Intense Emotions for Middle School Students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5"/>
              </a:rPr>
              <a:t>Mindfulness for Middle School Students</a:t>
            </a:r>
            <a:br>
              <a:rPr lang="en-US" sz="1200" u="sng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 Guiding Teens on Career Exploration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6"/>
              </a:rPr>
              <a:t>Questions Every Teenager Needs to Be Asked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7"/>
              </a:rPr>
              <a:t>How to Find Your Path After School</a:t>
            </a:r>
            <a:br>
              <a:rPr lang="en-US" sz="12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7. Creating Trust and Belonging in School Settings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8"/>
              </a:rPr>
              <a:t>Every kid needs a champion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5D9D42B-35C1-4E24-9594-C72835B267E0}"/>
              </a:ext>
            </a:extLst>
          </p:cNvPr>
          <p:cNvSpPr txBox="1"/>
          <p:nvPr/>
        </p:nvSpPr>
        <p:spPr>
          <a:xfrm>
            <a:off x="3472886" y="430400"/>
            <a:ext cx="5088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  <a:effectLst/>
              </a:rPr>
              <a:t>For teachers—to support student mental health and learning.</a:t>
            </a:r>
            <a:endParaRPr lang="en-US" sz="1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558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Teens’ Videos</a:t>
            </a:r>
            <a:endParaRPr lang="en-US" sz="3200" kern="100">
              <a:solidFill>
                <a:schemeClr val="bg1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680228" y="1144566"/>
            <a:ext cx="38416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Exploring Future Careers: A Teen’s Guide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3"/>
              </a:rPr>
              <a:t>Questions Every Teenager Needs to Be Asked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4"/>
              </a:rPr>
              <a:t>How to Find Your Passion and Make it Your Job</a:t>
            </a:r>
            <a:endParaRPr lang="en-US" sz="1200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Understanding and Coping with Anxiety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5"/>
              </a:rPr>
              <a:t>Exploring Anxiety and Stress Management (Teens)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6"/>
              </a:rPr>
              <a:t>Stress Management Tips for Kids and Teens!</a:t>
            </a:r>
            <a:r>
              <a:rPr lang="en-US" sz="1200" dirty="0">
                <a:hlinkClick r:id="rId5"/>
              </a:rPr>
              <a:t>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7"/>
              </a:rPr>
              <a:t>Teen stress from a teen perspective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8"/>
              </a:rPr>
              <a:t>How We Cope With Anxiety &amp; Stress</a:t>
            </a:r>
            <a:endParaRPr lang="en-US" altLang="zh-TW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9"/>
              </a:rPr>
              <a:t>Conquering exam stress: lessons from our bodies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0"/>
              </a:rPr>
              <a:t>What Your Grades Really Mean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1"/>
              </a:rPr>
              <a:t>Relaxation Skills for High School Students: How to Cope with Stress &amp; Anxiety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2"/>
              </a:rPr>
              <a:t>Mindfulness - Middle School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3"/>
              </a:rPr>
              <a:t>Mindfulness for High School Students</a:t>
            </a:r>
            <a:endParaRPr lang="en-US" sz="1200" dirty="0"/>
          </a:p>
          <a:p>
            <a:pPr>
              <a:buSzPts val="1000"/>
              <a:tabLst>
                <a:tab pos="457200" algn="l"/>
              </a:tabLst>
            </a:pPr>
            <a:br>
              <a:rPr lang="en-US" sz="1200" dirty="0"/>
            </a:b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Managing Emotions and Mental Health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4"/>
              </a:rPr>
              <a:t>Understanding Feelings for Middle School Students : Tips for Self-Awareness &amp; Emotional Control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5"/>
              </a:rPr>
              <a:t>Understanding Thoughts for Middle School Students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5B09671-7F51-442E-B9EF-34373804BC52}"/>
              </a:ext>
            </a:extLst>
          </p:cNvPr>
          <p:cNvSpPr txBox="1"/>
          <p:nvPr/>
        </p:nvSpPr>
        <p:spPr>
          <a:xfrm>
            <a:off x="3627220" y="264795"/>
            <a:ext cx="5018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For teens—to explore future paths, build friendships, and get to know yourself.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90A5A6E-097F-450C-85D1-3F1891E97A9A}"/>
              </a:ext>
            </a:extLst>
          </p:cNvPr>
          <p:cNvSpPr txBox="1"/>
          <p:nvPr/>
        </p:nvSpPr>
        <p:spPr>
          <a:xfrm>
            <a:off x="4853483" y="1144566"/>
            <a:ext cx="3841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TW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Making Friends: Tips for Teens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6"/>
              </a:rPr>
              <a:t>Boundaries and consent for teens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TW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>
                <a:effectLst/>
              </a:rPr>
              <a:t>Cell Phone and Social Media Addiction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7"/>
              </a:rPr>
              <a:t>Cell Phone Addiction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8"/>
              </a:rPr>
              <a:t>Impact of Social Media on Youth</a:t>
            </a:r>
            <a:endParaRPr lang="en-US" sz="1200" b="1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16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Children’s Videos</a:t>
            </a:r>
            <a:endParaRPr lang="en-US" sz="2400" kern="100">
              <a:solidFill>
                <a:schemeClr val="bg1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149540" y="1052811"/>
            <a:ext cx="6062675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Understanding and Coping with Anxiety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3"/>
              </a:rPr>
              <a:t>Grounding Techniques For Kids - Grounding Exercises For Anxiety And Other Big Emotions 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4"/>
              </a:rPr>
              <a:t>Fight Flight Freeze Response-Anxiety &amp; Stress-The Downside Of The Survival Brain-How To Calm It Down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5"/>
              </a:rPr>
              <a:t>5 Tips for Coping with Test Anxiety (for kids!)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6"/>
              </a:rPr>
              <a:t>Real kids talk about coping with anxiety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7"/>
              </a:rPr>
              <a:t>Belly Breathing: Mindfulness for Children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8"/>
              </a:rPr>
              <a:t>Butterfly Hug!</a:t>
            </a:r>
            <a:br>
              <a:rPr lang="en-US" sz="1100" u="sng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Understanding Childhood Depression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9"/>
              </a:rPr>
              <a:t>Depression For Kids - Coping Skills For Low &amp; Depressed Mood</a:t>
            </a:r>
            <a:br>
              <a:rPr lang="en-US" sz="11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Managing Emotions and Mental Health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0"/>
              </a:rPr>
              <a:t>Anger Management for Kids: How to stay calm when you feel like blowing up!</a:t>
            </a:r>
            <a:r>
              <a:rPr lang="en-US" sz="1100" dirty="0"/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1"/>
              </a:rPr>
              <a:t>Anger Management for Kids!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2"/>
              </a:rPr>
              <a:t>Accepting NO Social Story Emotional regulation social stories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3"/>
              </a:rPr>
              <a:t>The Feelings Song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4"/>
              </a:rPr>
              <a:t>It’s OK to Feel All Kinds of Feelings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5"/>
              </a:rPr>
              <a:t>Coping with Grief (for kids)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6"/>
              </a:rPr>
              <a:t>What Mental Health Is and Why It’s Important to Take Care of It?</a:t>
            </a:r>
            <a:r>
              <a:rPr lang="en-US" sz="1100" dirty="0"/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7"/>
              </a:rPr>
              <a:t>Stress Management Tips for Kids and Teens!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8"/>
              </a:rPr>
              <a:t>Setting Boundaries with Friends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9"/>
              </a:rPr>
              <a:t>Managing Intense Emotions - Elementary School | Child Mind Institute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B0F34C-770B-446C-94D2-5754BF64327D}"/>
              </a:ext>
            </a:extLst>
          </p:cNvPr>
          <p:cNvSpPr txBox="1"/>
          <p:nvPr/>
        </p:nvSpPr>
        <p:spPr>
          <a:xfrm>
            <a:off x="6212215" y="1085225"/>
            <a:ext cx="27400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Making Friends: Tips for Kids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0"/>
              </a:rPr>
              <a:t>How To Help Your Child Make Friends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1"/>
              </a:rPr>
              <a:t>How To Teach This Is The Way We Make Friends - Social Skills Song for Kids!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2"/>
              </a:rPr>
              <a:t>Friendship Skills for Kids: Making and Keeping Friends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3"/>
              </a:rPr>
              <a:t>How To Be A Friend? 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4"/>
              </a:rPr>
              <a:t>Social Emotional Learning For Kids: Benji, the Bad Day, and Me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5"/>
              </a:rPr>
              <a:t>All About Empathy (for kids!)</a:t>
            </a:r>
            <a:endParaRPr lang="en-US" sz="1100" dirty="0"/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b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Building Social Skills for Children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6"/>
              </a:rPr>
              <a:t>I Can Get Attention Social Skills Story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7"/>
              </a:rPr>
              <a:t>Improve social skills | Kids story Social confidence | Manageable steps explained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8"/>
              </a:rPr>
              <a:t>All About Social Skill for Kids!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6BD05F9-B80D-4737-AE86-B4F50A57DBCE}"/>
              </a:ext>
            </a:extLst>
          </p:cNvPr>
          <p:cNvSpPr txBox="1"/>
          <p:nvPr/>
        </p:nvSpPr>
        <p:spPr>
          <a:xfrm>
            <a:off x="3989463" y="26479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For children—to understand feelings, make friends, and build confidence.</a:t>
            </a:r>
          </a:p>
        </p:txBody>
      </p:sp>
    </p:spTree>
    <p:extLst>
      <p:ext uri="{BB962C8B-B14F-4D97-AF65-F5344CB8AC3E}">
        <p14:creationId xmlns:p14="http://schemas.microsoft.com/office/powerpoint/2010/main" val="1235439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98D923-B517-4D6F-85DF-FB96733F8CD6}"/>
              </a:ext>
            </a:extLst>
          </p:cNvPr>
          <p:cNvSpPr/>
          <p:nvPr/>
        </p:nvSpPr>
        <p:spPr>
          <a:xfrm>
            <a:off x="433237" y="326978"/>
            <a:ext cx="7760009" cy="427809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Teaching students how to manage hard feelings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what does it look like when students are experiencing anxiety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Anger, Frustration, Sadness,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Videos, sentence starters, strategies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Box breathing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Deal with anxiety, </a:t>
            </a:r>
            <a:r>
              <a:rPr lang="en-US" sz="16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depression</a:t>
            </a: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(what does it look like, conversation starter, how to support)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promoting hope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Creating Belonging, Emotional Regulation, Managing Anxiety, Managing Depression</a:t>
            </a:r>
            <a:endParaRPr lang="en-US" sz="16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398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5547054-8AAA-4451-B02F-15CB743B52C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8" y="0"/>
            <a:ext cx="9142603" cy="51435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FDD0078-9CDB-4A71-B4BE-E6FB3437C466}"/>
              </a:ext>
            </a:extLst>
          </p:cNvPr>
          <p:cNvSpPr/>
          <p:nvPr/>
        </p:nvSpPr>
        <p:spPr>
          <a:xfrm>
            <a:off x="2871788" y="1786680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THE END</a:t>
            </a:r>
            <a:endParaRPr lang="en-US" sz="2560" dirty="0">
              <a:solidFill>
                <a:schemeClr val="accent4">
                  <a:lumMod val="75000"/>
                </a:schemeClr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58A2696-BAFB-4EEF-9E55-5580C45562B7}"/>
              </a:ext>
            </a:extLst>
          </p:cNvPr>
          <p:cNvSpPr txBox="1"/>
          <p:nvPr/>
        </p:nvSpPr>
        <p:spPr>
          <a:xfrm>
            <a:off x="3230088" y="2133092"/>
            <a:ext cx="3230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THANKS</a:t>
            </a:r>
            <a:endParaRPr lang="en-US" sz="4800" b="1" dirty="0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109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2588</Words>
  <Application>Microsoft Office PowerPoint</Application>
  <PresentationFormat>如螢幕大小 (16:9)</PresentationFormat>
  <Paragraphs>295</Paragraphs>
  <Slides>26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Noto Sans HK</vt:lpstr>
      <vt:lpstr>Noto Sans SC</vt:lpstr>
      <vt:lpstr>Arial</vt:lpstr>
      <vt:lpstr>Calibri</vt:lpstr>
      <vt:lpstr>Segoe UI</vt:lpstr>
      <vt:lpstr>Symbol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a Sense of Belonging in Your Classroom: A Practical Teacher’s Guide</dc:title>
  <dc:subject>SUBTITLE HERE</dc:subject>
  <dc:creator>MindShow.fun</dc:creator>
  <cp:lastModifiedBy>Hsiang-Chen Yeh</cp:lastModifiedBy>
  <cp:revision>50</cp:revision>
  <dcterms:created xsi:type="dcterms:W3CDTF">2025-05-12T13:59:16Z</dcterms:created>
  <dcterms:modified xsi:type="dcterms:W3CDTF">2025-07-28T15:29:03Z</dcterms:modified>
</cp:coreProperties>
</file>