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1" r:id="rId6"/>
    <p:sldId id="262" r:id="rId7"/>
    <p:sldId id="272" r:id="rId8"/>
    <p:sldId id="273" r:id="rId9"/>
    <p:sldId id="274" r:id="rId10"/>
    <p:sldId id="275" r:id="rId11"/>
    <p:sldId id="276" r:id="rId12"/>
    <p:sldId id="277" r:id="rId13"/>
    <p:sldId id="263" r:id="rId14"/>
    <p:sldId id="264" r:id="rId15"/>
    <p:sldId id="278" r:id="rId16"/>
    <p:sldId id="279" r:id="rId17"/>
    <p:sldId id="280" r:id="rId18"/>
    <p:sldId id="281" r:id="rId19"/>
    <p:sldId id="282" r:id="rId20"/>
    <p:sldId id="283" r:id="rId21"/>
    <p:sldId id="266" r:id="rId22"/>
    <p:sldId id="268" r:id="rId23"/>
    <p:sldId id="269" r:id="rId24"/>
    <p:sldId id="270" r:id="rId25"/>
    <p:sldId id="271" r:id="rId26"/>
    <p:sldId id="284" r:id="rId27"/>
    <p:sldId id="265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2486"/>
    <a:srgbClr val="FDC7C7"/>
    <a:srgbClr val="FEC6F1"/>
    <a:srgbClr val="FD8DF2"/>
    <a:srgbClr val="4168EF"/>
    <a:srgbClr val="2B45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543AD0-CBD1-A6AF-6029-00699412B6BE}" v="6" dt="2025-07-14T08:34:26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di Miller" userId="S::jmill311@jh.edu::d19cc9ce-fb26-498d-84a6-c50015851aed" providerId="AD" clId="Web-{CEFE35A4-58AE-7A21-8E59-CAEFC70771AA}"/>
    <pc:docChg chg="addSld delSld modSld">
      <pc:chgData name="Jodi Miller" userId="S::jmill311@jh.edu::d19cc9ce-fb26-498d-84a6-c50015851aed" providerId="AD" clId="Web-{CEFE35A4-58AE-7A21-8E59-CAEFC70771AA}" dt="2025-06-17T14:26:06.662" v="37"/>
      <pc:docMkLst>
        <pc:docMk/>
      </pc:docMkLst>
      <pc:sldChg chg="modSp">
        <pc:chgData name="Jodi Miller" userId="S::jmill311@jh.edu::d19cc9ce-fb26-498d-84a6-c50015851aed" providerId="AD" clId="Web-{CEFE35A4-58AE-7A21-8E59-CAEFC70771AA}" dt="2025-06-17T14:26:06.662" v="37"/>
        <pc:sldMkLst>
          <pc:docMk/>
          <pc:sldMk cId="0" sldId="262"/>
        </pc:sldMkLst>
        <pc:graphicFrameChg chg="mod modGraphic">
          <ac:chgData name="Jodi Miller" userId="S::jmill311@jh.edu::d19cc9ce-fb26-498d-84a6-c50015851aed" providerId="AD" clId="Web-{CEFE35A4-58AE-7A21-8E59-CAEFC70771AA}" dt="2025-06-17T14:26:06.662" v="37"/>
          <ac:graphicFrameMkLst>
            <pc:docMk/>
            <pc:sldMk cId="0" sldId="262"/>
            <ac:graphicFrameMk id="18" creationId="{00000000-0000-0000-0000-000000000000}"/>
          </ac:graphicFrameMkLst>
        </pc:graphicFrameChg>
      </pc:sldChg>
      <pc:sldChg chg="addSp delSp modSp new del">
        <pc:chgData name="Jodi Miller" userId="S::jmill311@jh.edu::d19cc9ce-fb26-498d-84a6-c50015851aed" providerId="AD" clId="Web-{CEFE35A4-58AE-7A21-8E59-CAEFC70771AA}" dt="2025-06-17T14:25:08.110" v="29"/>
        <pc:sldMkLst>
          <pc:docMk/>
          <pc:sldMk cId="157648493" sldId="266"/>
        </pc:sldMkLst>
      </pc:sldChg>
    </pc:docChg>
  </pc:docChgLst>
  <pc:docChgLst>
    <pc:chgData name="Hsiang-Chen Yeh" userId="S::hyeh10@jh.edu::b8cf217b-f0d8-42ce-908a-b29c3db1b9cb" providerId="AD" clId="Web-{61543AD0-CBD1-A6AF-6029-00699412B6BE}"/>
    <pc:docChg chg="modSld">
      <pc:chgData name="Hsiang-Chen Yeh" userId="S::hyeh10@jh.edu::b8cf217b-f0d8-42ce-908a-b29c3db1b9cb" providerId="AD" clId="Web-{61543AD0-CBD1-A6AF-6029-00699412B6BE}" dt="2025-07-14T08:34:26.548" v="5" actId="1076"/>
      <pc:docMkLst>
        <pc:docMk/>
      </pc:docMkLst>
      <pc:sldChg chg="modSp">
        <pc:chgData name="Hsiang-Chen Yeh" userId="S::hyeh10@jh.edu::b8cf217b-f0d8-42ce-908a-b29c3db1b9cb" providerId="AD" clId="Web-{61543AD0-CBD1-A6AF-6029-00699412B6BE}" dt="2025-07-14T08:33:46.203" v="1" actId="1076"/>
        <pc:sldMkLst>
          <pc:docMk/>
          <pc:sldMk cId="0" sldId="259"/>
        </pc:sldMkLst>
        <pc:spChg chg="mod">
          <ac:chgData name="Hsiang-Chen Yeh" userId="S::hyeh10@jh.edu::b8cf217b-f0d8-42ce-908a-b29c3db1b9cb" providerId="AD" clId="Web-{61543AD0-CBD1-A6AF-6029-00699412B6BE}" dt="2025-07-14T08:33:46.188" v="0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Hsiang-Chen Yeh" userId="S::hyeh10@jh.edu::b8cf217b-f0d8-42ce-908a-b29c3db1b9cb" providerId="AD" clId="Web-{61543AD0-CBD1-A6AF-6029-00699412B6BE}" dt="2025-07-14T08:33:46.203" v="1" actId="1076"/>
          <ac:spMkLst>
            <pc:docMk/>
            <pc:sldMk cId="0" sldId="259"/>
            <ac:spMk id="8" creationId="{09BC071E-4A0C-4A90-ADC4-1CF2F64A34BD}"/>
          </ac:spMkLst>
        </pc:spChg>
      </pc:sldChg>
      <pc:sldChg chg="addSp modSp">
        <pc:chgData name="Hsiang-Chen Yeh" userId="S::hyeh10@jh.edu::b8cf217b-f0d8-42ce-908a-b29c3db1b9cb" providerId="AD" clId="Web-{61543AD0-CBD1-A6AF-6029-00699412B6BE}" dt="2025-07-14T08:34:26.548" v="5" actId="1076"/>
        <pc:sldMkLst>
          <pc:docMk/>
          <pc:sldMk cId="488708667" sldId="272"/>
        </pc:sldMkLst>
        <pc:spChg chg="add mod">
          <ac:chgData name="Hsiang-Chen Yeh" userId="S::hyeh10@jh.edu::b8cf217b-f0d8-42ce-908a-b29c3db1b9cb" providerId="AD" clId="Web-{61543AD0-CBD1-A6AF-6029-00699412B6BE}" dt="2025-07-14T08:34:26.548" v="5" actId="1076"/>
          <ac:spMkLst>
            <pc:docMk/>
            <pc:sldMk cId="488708667" sldId="272"/>
            <ac:spMk id="3" creationId="{FD89DADB-0968-5887-5AE3-FEBCBA82DE95}"/>
          </ac:spMkLst>
        </pc:spChg>
        <pc:spChg chg="mod">
          <ac:chgData name="Hsiang-Chen Yeh" userId="S::hyeh10@jh.edu::b8cf217b-f0d8-42ce-908a-b29c3db1b9cb" providerId="AD" clId="Web-{61543AD0-CBD1-A6AF-6029-00699412B6BE}" dt="2025-07-14T08:34:20.735" v="2" actId="20577"/>
          <ac:spMkLst>
            <pc:docMk/>
            <pc:sldMk cId="488708667" sldId="272"/>
            <ac:spMk id="4" creationId="{00000000-0000-0000-0000-000000000000}"/>
          </ac:spMkLst>
        </pc:spChg>
      </pc:sldChg>
    </pc:docChg>
  </pc:docChgLst>
  <pc:docChgLst>
    <pc:chgData name="Jodi Miller" userId="S::jmill311@jh.edu::d19cc9ce-fb26-498d-84a6-c50015851aed" providerId="AD" clId="Web-{45BD2D06-8638-B3C2-6EF8-4D2026981387}"/>
    <pc:docChg chg="modSld modMainMaster">
      <pc:chgData name="Jodi Miller" userId="S::jmill311@jh.edu::d19cc9ce-fb26-498d-84a6-c50015851aed" providerId="AD" clId="Web-{45BD2D06-8638-B3C2-6EF8-4D2026981387}" dt="2025-07-01T14:13:22.551" v="41" actId="20577"/>
      <pc:docMkLst>
        <pc:docMk/>
      </pc:docMkLst>
      <pc:sldChg chg="modSp">
        <pc:chgData name="Jodi Miller" userId="S::jmill311@jh.edu::d19cc9ce-fb26-498d-84a6-c50015851aed" providerId="AD" clId="Web-{45BD2D06-8638-B3C2-6EF8-4D2026981387}" dt="2025-07-01T14:11:49.595" v="17"/>
        <pc:sldMkLst>
          <pc:docMk/>
          <pc:sldMk cId="0" sldId="264"/>
        </pc:sldMkLst>
        <pc:graphicFrameChg chg="mod modGraphic">
          <ac:chgData name="Jodi Miller" userId="S::jmill311@jh.edu::d19cc9ce-fb26-498d-84a6-c50015851aed" providerId="AD" clId="Web-{45BD2D06-8638-B3C2-6EF8-4D2026981387}" dt="2025-07-01T14:11:49.595" v="17"/>
          <ac:graphicFrameMkLst>
            <pc:docMk/>
            <pc:sldMk cId="0" sldId="264"/>
            <ac:graphicFrameMk id="20" creationId="{00000000-0000-0000-0000-000000000000}"/>
          </ac:graphicFrameMkLst>
        </pc:graphicFrameChg>
      </pc:sldChg>
      <pc:sldChg chg="modSp">
        <pc:chgData name="Jodi Miller" userId="S::jmill311@jh.edu::d19cc9ce-fb26-498d-84a6-c50015851aed" providerId="AD" clId="Web-{45BD2D06-8638-B3C2-6EF8-4D2026981387}" dt="2025-07-01T14:06:41.020" v="5" actId="20577"/>
        <pc:sldMkLst>
          <pc:docMk/>
          <pc:sldMk cId="648946329" sldId="273"/>
        </pc:sldMkLst>
        <pc:spChg chg="mod">
          <ac:chgData name="Jodi Miller" userId="S::jmill311@jh.edu::d19cc9ce-fb26-498d-84a6-c50015851aed" providerId="AD" clId="Web-{45BD2D06-8638-B3C2-6EF8-4D2026981387}" dt="2025-07-01T14:06:41.020" v="5" actId="20577"/>
          <ac:spMkLst>
            <pc:docMk/>
            <pc:sldMk cId="648946329" sldId="273"/>
            <ac:spMk id="4" creationId="{00000000-0000-0000-0000-000000000000}"/>
          </ac:spMkLst>
        </pc:spChg>
      </pc:sldChg>
      <pc:sldChg chg="modSp">
        <pc:chgData name="Jodi Miller" userId="S::jmill311@jh.edu::d19cc9ce-fb26-498d-84a6-c50015851aed" providerId="AD" clId="Web-{45BD2D06-8638-B3C2-6EF8-4D2026981387}" dt="2025-07-01T14:11:43.688" v="15" actId="20577"/>
        <pc:sldMkLst>
          <pc:docMk/>
          <pc:sldMk cId="3216764958" sldId="278"/>
        </pc:sldMkLst>
        <pc:spChg chg="mod">
          <ac:chgData name="Jodi Miller" userId="S::jmill311@jh.edu::d19cc9ce-fb26-498d-84a6-c50015851aed" providerId="AD" clId="Web-{45BD2D06-8638-B3C2-6EF8-4D2026981387}" dt="2025-07-01T14:11:43.688" v="15" actId="20577"/>
          <ac:spMkLst>
            <pc:docMk/>
            <pc:sldMk cId="3216764958" sldId="278"/>
            <ac:spMk id="4" creationId="{00000000-0000-0000-0000-000000000000}"/>
          </ac:spMkLst>
        </pc:spChg>
      </pc:sldChg>
      <pc:sldChg chg="modSp">
        <pc:chgData name="Jodi Miller" userId="S::jmill311@jh.edu::d19cc9ce-fb26-498d-84a6-c50015851aed" providerId="AD" clId="Web-{45BD2D06-8638-B3C2-6EF8-4D2026981387}" dt="2025-07-01T14:13:22.551" v="41" actId="20577"/>
        <pc:sldMkLst>
          <pc:docMk/>
          <pc:sldMk cId="3801012146" sldId="281"/>
        </pc:sldMkLst>
        <pc:spChg chg="mod">
          <ac:chgData name="Jodi Miller" userId="S::jmill311@jh.edu::d19cc9ce-fb26-498d-84a6-c50015851aed" providerId="AD" clId="Web-{45BD2D06-8638-B3C2-6EF8-4D2026981387}" dt="2025-07-01T14:13:22.551" v="41" actId="20577"/>
          <ac:spMkLst>
            <pc:docMk/>
            <pc:sldMk cId="3801012146" sldId="281"/>
            <ac:spMk id="4" creationId="{00000000-0000-0000-0000-000000000000}"/>
          </ac:spMkLst>
        </pc:spChg>
      </pc:sldChg>
      <pc:sldMasterChg chg="mod modSldLayout">
        <pc:chgData name="Jodi Miller" userId="S::jmill311@jh.edu::d19cc9ce-fb26-498d-84a6-c50015851aed" providerId="AD" clId="Web-{45BD2D06-8638-B3C2-6EF8-4D2026981387}" dt="2025-07-01T14:07:57.476" v="10"/>
        <pc:sldMasterMkLst>
          <pc:docMk/>
          <pc:sldMasterMk cId="0" sldId="2147483648"/>
        </pc:sldMasterMkLst>
        <pc:sldLayoutChg chg="mod">
          <pc:chgData name="Jodi Miller" userId="S::jmill311@jh.edu::d19cc9ce-fb26-498d-84a6-c50015851aed" providerId="AD" clId="Web-{45BD2D06-8638-B3C2-6EF8-4D2026981387}" dt="2025-07-01T14:07:57.476" v="1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Jodi Miller" userId="S::jmill311@jh.edu::d19cc9ce-fb26-498d-84a6-c50015851aed" providerId="AD" clId="Web-{45BD2D06-8638-B3C2-6EF8-4D2026981387}" dt="2025-07-01T14:07:57.476" v="1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Jodi Miller" userId="S::jmill311@jh.edu::d19cc9ce-fb26-498d-84a6-c50015851aed" providerId="AD" clId="Web-{45BD2D06-8638-B3C2-6EF8-4D2026981387}" dt="2025-07-01T14:07:57.476" v="1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Jodi Miller" userId="S::jmill311@jh.edu::d19cc9ce-fb26-498d-84a6-c50015851aed" providerId="AD" clId="Web-{45BD2D06-8638-B3C2-6EF8-4D2026981387}" dt="2025-07-01T14:07:57.476" v="1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Jodi Miller" userId="S::jmill311@jh.edu::d19cc9ce-fb26-498d-84a6-c50015851aed" providerId="AD" clId="Web-{45BD2D06-8638-B3C2-6EF8-4D2026981387}" dt="2025-07-01T14:07:57.476" v="1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Jodi Miller" userId="S::jmill311@jh.edu::d19cc9ce-fb26-498d-84a6-c50015851aed" providerId="AD" clId="Web-{45BD2D06-8638-B3C2-6EF8-4D2026981387}" dt="2025-07-01T14:07:57.476" v="10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7012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066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55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62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72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634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21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900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324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028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1725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834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479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479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8681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268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850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292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alog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ssion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slid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NEgoEgonx3U" TargetMode="External"/><Relationship Id="rId13" Type="http://schemas.openxmlformats.org/officeDocument/2006/relationships/hyperlink" Target="https://www.youtube.com/watch?v=mCQx_lSun5Q" TargetMode="External"/><Relationship Id="rId18" Type="http://schemas.openxmlformats.org/officeDocument/2006/relationships/hyperlink" Target="https://www.youtube.com/watch?v=bZuioqGM2Vs" TargetMode="External"/><Relationship Id="rId3" Type="http://schemas.openxmlformats.org/officeDocument/2006/relationships/hyperlink" Target="https://www.youtube.com/watch?v=dDQ5tgd1_HY" TargetMode="External"/><Relationship Id="rId21" Type="http://schemas.openxmlformats.org/officeDocument/2006/relationships/hyperlink" Target="https://www.youtube.com/watch?v=MkD9LM5OQSk" TargetMode="External"/><Relationship Id="rId7" Type="http://schemas.openxmlformats.org/officeDocument/2006/relationships/hyperlink" Target="https://www.youtube.com/watch?v=GVg6hnH9UnE" TargetMode="External"/><Relationship Id="rId12" Type="http://schemas.openxmlformats.org/officeDocument/2006/relationships/hyperlink" Target="https://www.youtube.com/watch?v=b5DxuMXPmCA" TargetMode="External"/><Relationship Id="rId17" Type="http://schemas.openxmlformats.org/officeDocument/2006/relationships/hyperlink" Target="https://www.youtube.com/watch?v=G5FxMp49aaA" TargetMode="External"/><Relationship Id="rId2" Type="http://schemas.openxmlformats.org/officeDocument/2006/relationships/notesSlide" Target="../notesSlides/notesSlide22.xml"/><Relationship Id="rId16" Type="http://schemas.openxmlformats.org/officeDocument/2006/relationships/hyperlink" Target="https://www.youtube.com/watch?v=uzhmBDrB8E4" TargetMode="External"/><Relationship Id="rId20" Type="http://schemas.openxmlformats.org/officeDocument/2006/relationships/hyperlink" Target="https://www.youtube.com/watch?v=wytxrXe5tUQ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35n_H7ObY-s" TargetMode="External"/><Relationship Id="rId11" Type="http://schemas.openxmlformats.org/officeDocument/2006/relationships/hyperlink" Target="https://www.youtube.com/watch?v=PoDQFWD_WMs" TargetMode="External"/><Relationship Id="rId5" Type="http://schemas.openxmlformats.org/officeDocument/2006/relationships/hyperlink" Target="https://www.youtube.com/watch?v=_bveeRf2NHw" TargetMode="External"/><Relationship Id="rId15" Type="http://schemas.openxmlformats.org/officeDocument/2006/relationships/hyperlink" Target="https://www.youtube.com/watch?v=fC2z69q3L0o" TargetMode="External"/><Relationship Id="rId10" Type="http://schemas.openxmlformats.org/officeDocument/2006/relationships/hyperlink" Target="https://www.youtube.com/watch?v=DiIUdXmhf-0" TargetMode="External"/><Relationship Id="rId19" Type="http://schemas.openxmlformats.org/officeDocument/2006/relationships/hyperlink" Target="https://www.youtube.com/watch?v=AZs6hBqvW_4" TargetMode="External"/><Relationship Id="rId4" Type="http://schemas.openxmlformats.org/officeDocument/2006/relationships/hyperlink" Target="https://www.youtube.com/watch?v=EkL6Qx07aiU" TargetMode="External"/><Relationship Id="rId9" Type="http://schemas.openxmlformats.org/officeDocument/2006/relationships/hyperlink" Target="https://www.youtube.com/watch?v=_PWFPbcn8To" TargetMode="External"/><Relationship Id="rId14" Type="http://schemas.openxmlformats.org/officeDocument/2006/relationships/hyperlink" Target="https://www.youtube.com/watch?v=F1NePiyFLV8" TargetMode="External"/><Relationship Id="rId22" Type="http://schemas.openxmlformats.org/officeDocument/2006/relationships/hyperlink" Target="https://www.youtube.com/watch?v=c5ASysmOH_I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Qb8fey6-5UA" TargetMode="External"/><Relationship Id="rId13" Type="http://schemas.openxmlformats.org/officeDocument/2006/relationships/hyperlink" Target="https://www.youtube.com/watch?v=MyPUY38blZQ" TargetMode="External"/><Relationship Id="rId18" Type="http://schemas.openxmlformats.org/officeDocument/2006/relationships/hyperlink" Target="https://www.youtube.com/watch?v=SFnMTHhKdkw" TargetMode="External"/><Relationship Id="rId3" Type="http://schemas.openxmlformats.org/officeDocument/2006/relationships/hyperlink" Target="https://www.youtube.com/watch?v=G_3cvSZiFVs" TargetMode="External"/><Relationship Id="rId7" Type="http://schemas.openxmlformats.org/officeDocument/2006/relationships/hyperlink" Target="https://www.youtube.com/watch?v=ziV4zZktES0" TargetMode="External"/><Relationship Id="rId12" Type="http://schemas.openxmlformats.org/officeDocument/2006/relationships/hyperlink" Target="https://www.youtube.com/watch?v=5tkgOnf48CY" TargetMode="External"/><Relationship Id="rId17" Type="http://schemas.openxmlformats.org/officeDocument/2006/relationships/hyperlink" Target="https://www.youtube.com/watch?v=stKAA-ecimk" TargetMode="External"/><Relationship Id="rId2" Type="http://schemas.openxmlformats.org/officeDocument/2006/relationships/notesSlide" Target="../notesSlides/notesSlide23.xml"/><Relationship Id="rId16" Type="http://schemas.openxmlformats.org/officeDocument/2006/relationships/hyperlink" Target="https://www.youtube.com/watch?v=NEgoEgonx3U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30VMIEmA114" TargetMode="External"/><Relationship Id="rId11" Type="http://schemas.openxmlformats.org/officeDocument/2006/relationships/hyperlink" Target="https://www.youtube.com/watch?v=zuoPZkFcLVs" TargetMode="External"/><Relationship Id="rId5" Type="http://schemas.openxmlformats.org/officeDocument/2006/relationships/hyperlink" Target="https://www.youtube.com/watch?v=8rddM0ggYKo" TargetMode="External"/><Relationship Id="rId15" Type="http://schemas.openxmlformats.org/officeDocument/2006/relationships/hyperlink" Target="https://www.youtube.com/watch?v=4ZlQ2M7ndiI" TargetMode="External"/><Relationship Id="rId10" Type="http://schemas.openxmlformats.org/officeDocument/2006/relationships/hyperlink" Target="https://www.youtube.com/watch?v=saiOiv0_DU8" TargetMode="External"/><Relationship Id="rId4" Type="http://schemas.openxmlformats.org/officeDocument/2006/relationships/hyperlink" Target="https://www.youtube.com/watch?v=X8HDwFH4X_M" TargetMode="External"/><Relationship Id="rId9" Type="http://schemas.openxmlformats.org/officeDocument/2006/relationships/hyperlink" Target="https://www.youtube.com/watch?v=MBYlRmUurJ8" TargetMode="External"/><Relationship Id="rId14" Type="http://schemas.openxmlformats.org/officeDocument/2006/relationships/hyperlink" Target="https://www.youtube.com/watch?v=cnODLSFocZc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0qnYXCLk5bQ" TargetMode="External"/><Relationship Id="rId13" Type="http://schemas.openxmlformats.org/officeDocument/2006/relationships/hyperlink" Target="https://www.youtube.com/watch?v=kVcVMFNvrLc" TargetMode="External"/><Relationship Id="rId18" Type="http://schemas.openxmlformats.org/officeDocument/2006/relationships/hyperlink" Target="https://www.youtube.com/watch?v=soHn6t_jjIw" TargetMode="External"/><Relationship Id="rId3" Type="http://schemas.openxmlformats.org/officeDocument/2006/relationships/hyperlink" Target="https://www.youtube.com/watch?v=NEgoEgonx3U" TargetMode="External"/><Relationship Id="rId7" Type="http://schemas.openxmlformats.org/officeDocument/2006/relationships/hyperlink" Target="https://www.youtube.com/watch?v=FhG-VoRtkKY" TargetMode="External"/><Relationship Id="rId12" Type="http://schemas.openxmlformats.org/officeDocument/2006/relationships/hyperlink" Target="https://www.youtube.com/watch?v=x6DBPHC0ye8" TargetMode="External"/><Relationship Id="rId17" Type="http://schemas.openxmlformats.org/officeDocument/2006/relationships/hyperlink" Target="https://www.youtube.com/watch?v=qBbEXJ-Uqi0" TargetMode="External"/><Relationship Id="rId2" Type="http://schemas.openxmlformats.org/officeDocument/2006/relationships/notesSlide" Target="../notesSlides/notesSlide24.xml"/><Relationship Id="rId16" Type="http://schemas.openxmlformats.org/officeDocument/2006/relationships/hyperlink" Target="https://www.youtube.com/watch?v=dlRAypXW5Cw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3Nf2Pzcketg" TargetMode="External"/><Relationship Id="rId11" Type="http://schemas.openxmlformats.org/officeDocument/2006/relationships/hyperlink" Target="https://www.youtube.com/watch?v=9lZOond9srU" TargetMode="External"/><Relationship Id="rId5" Type="http://schemas.openxmlformats.org/officeDocument/2006/relationships/hyperlink" Target="https://www.youtube.com/watch?v=GQSfW4xrKSk" TargetMode="External"/><Relationship Id="rId15" Type="http://schemas.openxmlformats.org/officeDocument/2006/relationships/hyperlink" Target="https://www.youtube.com/watch?v=5BEmcnsa8Oc" TargetMode="External"/><Relationship Id="rId10" Type="http://schemas.openxmlformats.org/officeDocument/2006/relationships/hyperlink" Target="https://www.youtube.com/watch?v=yu5GPsnxBS4" TargetMode="External"/><Relationship Id="rId4" Type="http://schemas.openxmlformats.org/officeDocument/2006/relationships/hyperlink" Target="https://www.youtube.com/watch?v=8Swu8iiuFx4" TargetMode="External"/><Relationship Id="rId9" Type="http://schemas.openxmlformats.org/officeDocument/2006/relationships/hyperlink" Target="https://www.youtube.com/watch?v=-RZ86OB9hw4" TargetMode="External"/><Relationship Id="rId14" Type="http://schemas.openxmlformats.org/officeDocument/2006/relationships/hyperlink" Target="https://www.youtube.com/watch?v=h1b0oGx2ilc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H9Hnisaqlns" TargetMode="External"/><Relationship Id="rId13" Type="http://schemas.openxmlformats.org/officeDocument/2006/relationships/hyperlink" Target="https://www.youtube.com/watch?v=-J7HcVLsCrY" TargetMode="External"/><Relationship Id="rId18" Type="http://schemas.openxmlformats.org/officeDocument/2006/relationships/hyperlink" Target="https://www.youtube.com/watch?v=jC3_kNISw_g" TargetMode="External"/><Relationship Id="rId26" Type="http://schemas.openxmlformats.org/officeDocument/2006/relationships/hyperlink" Target="https://www.youtube.com/watch?v=VaruOweSbSI" TargetMode="External"/><Relationship Id="rId3" Type="http://schemas.openxmlformats.org/officeDocument/2006/relationships/hyperlink" Target="https://www.youtube.com/watch?v=5YtnpPPnqaY" TargetMode="External"/><Relationship Id="rId21" Type="http://schemas.openxmlformats.org/officeDocument/2006/relationships/hyperlink" Target="https://www.youtube.com/watch?v=7F2SbWCOIaU" TargetMode="External"/><Relationship Id="rId7" Type="http://schemas.openxmlformats.org/officeDocument/2006/relationships/hyperlink" Target="https://www.youtube.com/watch?v=RiMb2Bw4Ae8" TargetMode="External"/><Relationship Id="rId12" Type="http://schemas.openxmlformats.org/officeDocument/2006/relationships/hyperlink" Target="https://www.youtube.com/watch?v=Va8ewW7nUVE" TargetMode="External"/><Relationship Id="rId17" Type="http://schemas.openxmlformats.org/officeDocument/2006/relationships/hyperlink" Target="https://www.youtube.com/watch?v=3Nf2Pzcketg" TargetMode="External"/><Relationship Id="rId25" Type="http://schemas.openxmlformats.org/officeDocument/2006/relationships/hyperlink" Target="https://www.youtube.com/watch?v=Itp21tly8nM&amp;list=PLRnAhAymA0dRbPB7q2uafRBVBfw0Hy_X6" TargetMode="External"/><Relationship Id="rId2" Type="http://schemas.openxmlformats.org/officeDocument/2006/relationships/notesSlide" Target="../notesSlides/notesSlide25.xml"/><Relationship Id="rId16" Type="http://schemas.openxmlformats.org/officeDocument/2006/relationships/hyperlink" Target="https://www.youtube.com/watch?v=tY8NY6CMDFA" TargetMode="External"/><Relationship Id="rId20" Type="http://schemas.openxmlformats.org/officeDocument/2006/relationships/hyperlink" Target="https://www.youtube.com/watch?v=b_oS2lyTECo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f3_Ew7ejOo4" TargetMode="External"/><Relationship Id="rId11" Type="http://schemas.openxmlformats.org/officeDocument/2006/relationships/hyperlink" Target="https://www.youtube.com/watch?v=8_FMxPo4xDM&amp;list=PLRnAhAymA0dRbPB7q2uafRBVBfw0Hy_X6&amp;index=2" TargetMode="External"/><Relationship Id="rId24" Type="http://schemas.openxmlformats.org/officeDocument/2006/relationships/hyperlink" Target="https://www.youtube.com/watch?v=CEPw4CEGc1o" TargetMode="External"/><Relationship Id="rId5" Type="http://schemas.openxmlformats.org/officeDocument/2006/relationships/hyperlink" Target="https://www.youtube.com/watch?v=sDYx9qM_ygg&amp;list=PLRnAhAymA0dRbPB7q2uafRBVBfw0Hy_X6&amp;index=3" TargetMode="External"/><Relationship Id="rId15" Type="http://schemas.openxmlformats.org/officeDocument/2006/relationships/hyperlink" Target="https://www.youtube.com/watch?v=v0ZX7ErBm_U&amp;list=PLRnAhAymA0dRbPB7q2uafRBVBfw0Hy_X6&amp;index=6" TargetMode="External"/><Relationship Id="rId23" Type="http://schemas.openxmlformats.org/officeDocument/2006/relationships/hyperlink" Target="https://www.youtube.com/watch?v=F5lfN-LIZpA" TargetMode="External"/><Relationship Id="rId28" Type="http://schemas.openxmlformats.org/officeDocument/2006/relationships/hyperlink" Target="https://www.youtube.com/watch?v=Myf2CUx9E60&amp;list=PLRnAhAymA0dRbPB7q2uafRBVBfw0Hy_X6&amp;index=5" TargetMode="External"/><Relationship Id="rId10" Type="http://schemas.openxmlformats.org/officeDocument/2006/relationships/hyperlink" Target="https://www.youtube.com/watch?v=eAhQXwolrDU" TargetMode="External"/><Relationship Id="rId19" Type="http://schemas.openxmlformats.org/officeDocument/2006/relationships/hyperlink" Target="https://www.youtube.com/watch?v=PFtHZRAp8qQ" TargetMode="External"/><Relationship Id="rId4" Type="http://schemas.openxmlformats.org/officeDocument/2006/relationships/hyperlink" Target="https://www.youtube.com/watch?v=r3m-h-GV-n8" TargetMode="External"/><Relationship Id="rId9" Type="http://schemas.openxmlformats.org/officeDocument/2006/relationships/hyperlink" Target="https://www.youtube.com/watch?v=qDeU72FtWjQ" TargetMode="External"/><Relationship Id="rId14" Type="http://schemas.openxmlformats.org/officeDocument/2006/relationships/hyperlink" Target="https://www.youtube.com/watch?v=JA6npdZ9Zrw" TargetMode="External"/><Relationship Id="rId22" Type="http://schemas.openxmlformats.org/officeDocument/2006/relationships/hyperlink" Target="https://www.youtube.com/watch?v=IU1xFldaO0k" TargetMode="External"/><Relationship Id="rId27" Type="http://schemas.openxmlformats.org/officeDocument/2006/relationships/hyperlink" Target="https://www.youtube.com/watch?v=uGNK91bbirA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980706" y="4348967"/>
            <a:ext cx="2772897" cy="552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>
                <a:solidFill>
                  <a:schemeClr val="bg1"/>
                </a:solidFill>
                <a:effectLst/>
              </a:rPr>
              <a:t>2025-05-13 Hsiang-Chen Yeh</a:t>
            </a: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8CCB5EF-C506-40CF-AF98-EA9EFCD12D2E}"/>
              </a:ext>
            </a:extLst>
          </p:cNvPr>
          <p:cNvSpPr txBox="1"/>
          <p:nvPr/>
        </p:nvSpPr>
        <p:spPr>
          <a:xfrm>
            <a:off x="2037080" y="1352352"/>
            <a:ext cx="52882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Creating a Sense of Belonging in Your Classroom: A Practical Teacher’s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3250" y="676894"/>
            <a:ext cx="5091113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2B4598"/>
                </a:solidFill>
                <a:effectLst/>
              </a:rPr>
              <a:t>CONTENTS</a:t>
            </a:r>
            <a:endParaRPr lang="en-US" sz="4000" b="1">
              <a:solidFill>
                <a:srgbClr val="2B459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3057710" y="1776982"/>
            <a:ext cx="5119688" cy="27003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200000"/>
              </a:lnSpc>
            </a:pPr>
            <a:r>
              <a:rPr lang="en-US">
                <a:effectLst/>
              </a:rPr>
              <a:t>💡 Why Student Belonging Is Important</a:t>
            </a:r>
          </a:p>
          <a:p>
            <a:pPr>
              <a:lnSpc>
                <a:spcPct val="200000"/>
              </a:lnSpc>
            </a:pPr>
            <a:r>
              <a:rPr lang="en-US">
                <a:effectLst/>
              </a:rPr>
              <a:t>🧩 Evidence-Based Activities to Foster Belonging</a:t>
            </a:r>
          </a:p>
          <a:p>
            <a:pPr>
              <a:lnSpc>
                <a:spcPct val="200000"/>
              </a:lnSpc>
            </a:pPr>
            <a:r>
              <a:rPr lang="en-US">
                <a:effectLst/>
              </a:rPr>
              <a:t>🗣️ Action Sentence Starters for Daily Classroom Use</a:t>
            </a:r>
            <a:br>
              <a:rPr lang="en-US">
                <a:effectLst/>
              </a:rPr>
            </a:br>
            <a:r>
              <a:rPr lang="en-US" sz="1800" b="1">
                <a:solidFill>
                  <a:srgbClr val="0624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🎞</a:t>
            </a:r>
            <a:r>
              <a:rPr lang="en-US" sz="1800">
                <a:cs typeface="Noto Sans SC" pitchFamily="34" charset="-120"/>
              </a:rPr>
              <a:t> </a:t>
            </a:r>
            <a:r>
              <a:rPr lang="en-US" altLang="zh-TW" sz="1800">
                <a:effectLst/>
                <a:ea typeface="Noto Sans HK" panose="020B0200000000000000" pitchFamily="34" charset="-120"/>
              </a:rPr>
              <a:t>Video Library</a:t>
            </a:r>
            <a:endParaRPr lang="en-US" sz="1800">
              <a:ea typeface="Noto Sans HK" panose="020B0200000000000000" pitchFamily="34" charset="-120"/>
            </a:endParaRPr>
          </a:p>
          <a:p>
            <a:pPr>
              <a:lnSpc>
                <a:spcPct val="200000"/>
              </a:lnSpc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02022" y="2491345"/>
            <a:ext cx="6935189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570" b="1">
                <a:solidFill>
                  <a:srgbClr val="0624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r>
              <a:rPr lang="en-US" sz="3600">
                <a:solidFill>
                  <a:srgbClr val="062486"/>
                </a:solidFill>
                <a:effectLst/>
              </a:rPr>
              <a:t> </a:t>
            </a:r>
            <a:r>
              <a:rPr lang="en-US" sz="3600">
                <a:solidFill>
                  <a:srgbClr val="062486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Why Student Belonging Is </a:t>
            </a:r>
            <a:r>
              <a:rPr lang="en-US" sz="3600" b="1">
                <a:solidFill>
                  <a:srgbClr val="062486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Important</a:t>
            </a:r>
            <a:endParaRPr lang="en-US" sz="3570" b="1">
              <a:solidFill>
                <a:srgbClr val="062486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4EAC543-3DE0-470F-A855-2DD669A779C5}"/>
              </a:ext>
            </a:extLst>
          </p:cNvPr>
          <p:cNvSpPr txBox="1"/>
          <p:nvPr/>
        </p:nvSpPr>
        <p:spPr>
          <a:xfrm>
            <a:off x="3990110" y="642647"/>
            <a:ext cx="1312222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760" b="1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01</a:t>
            </a:r>
            <a:endParaRPr lang="en-US" sz="5760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6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2660"/>
          </a:p>
        </p:txBody>
      </p:sp>
      <p:sp>
        <p:nvSpPr>
          <p:cNvPr id="4" name="Text 2"/>
          <p:cNvSpPr/>
          <p:nvPr/>
        </p:nvSpPr>
        <p:spPr>
          <a:xfrm>
            <a:off x="807720" y="1172627"/>
            <a:ext cx="7715250" cy="34528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>
                <a:effectLst/>
              </a:rPr>
              <a:t>Belonging is a core psychological need. When students feel accepted, valued, and understood, they:</a:t>
            </a:r>
          </a:p>
          <a:p>
            <a:br>
              <a:rPr lang="en-US" sz="1600">
                <a:effectLst/>
              </a:rPr>
            </a:br>
            <a:endParaRPr lang="en-US" sz="168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1341911" y="3080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Why Student Belonging Is Important</a:t>
            </a:r>
            <a:endParaRPr lang="en-US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9BC071E-4A0C-4A90-ADC4-1CF2F64A34BD}"/>
              </a:ext>
            </a:extLst>
          </p:cNvPr>
          <p:cNvSpPr/>
          <p:nvPr/>
        </p:nvSpPr>
        <p:spPr>
          <a:xfrm>
            <a:off x="1108685" y="1921452"/>
            <a:ext cx="7113319" cy="25830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effectLst/>
              </a:rPr>
              <a:t>Show improved academic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effectLst/>
              </a:rPr>
              <a:t>Have better mental and physical health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effectLst/>
              </a:rPr>
              <a:t>Build stronger motivation and relationships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effectLst/>
              </a:rPr>
              <a:t>Are more likely to persist through challenges</a:t>
            </a:r>
            <a:endParaRPr 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65905" y="2556658"/>
            <a:ext cx="7106979" cy="1676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600" b="1">
                <a:solidFill>
                  <a:srgbClr val="062486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🧩 Evidence-Based Activities to Foster Belonging</a:t>
            </a:r>
            <a:endParaRPr lang="en-US" sz="3600" b="1">
              <a:solidFill>
                <a:srgbClr val="062486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CC93A48-6E98-430D-BA15-114CC7549916}"/>
              </a:ext>
            </a:extLst>
          </p:cNvPr>
          <p:cNvSpPr txBox="1"/>
          <p:nvPr/>
        </p:nvSpPr>
        <p:spPr>
          <a:xfrm>
            <a:off x="3990110" y="642647"/>
            <a:ext cx="1312222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760" b="1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02</a:t>
            </a:r>
            <a:endParaRPr lang="en-US" sz="5760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4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🧩 Evidence-Based Activities to Foster Belonging</a:t>
            </a:r>
            <a:endParaRPr lang="en-US" sz="224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869443"/>
              </p:ext>
            </p:extLst>
          </p:nvPr>
        </p:nvGraphicFramePr>
        <p:xfrm>
          <a:off x="391885" y="1122215"/>
          <a:ext cx="8360229" cy="3816497"/>
        </p:xfrm>
        <a:graphic>
          <a:graphicData uri="http://schemas.openxmlformats.org/drawingml/2006/table">
            <a:tbl>
              <a:tblPr/>
              <a:tblGrid>
                <a:gridCol w="27588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2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74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FFFFFF"/>
                          </a:solidFill>
                        </a:rPr>
                        <a:t>Strategy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FFFFFF"/>
                          </a:solidFill>
                        </a:rPr>
                        <a:t>What You Can Do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FFFFFF"/>
                          </a:solidFill>
                        </a:rPr>
                        <a:t>Why It Works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8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1.Build Personal Connection (Goodenow,1993)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•Greet students by name </a:t>
                      </a:r>
                      <a:br>
                        <a:rPr lang="en-US" sz="870">
                          <a:solidFill>
                            <a:srgbClr val="000000"/>
                          </a:solidFill>
                        </a:rPr>
                      </a:b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•Check in when they seem off </a:t>
                      </a:r>
                      <a:br>
                        <a:rPr lang="en-US" sz="870">
                          <a:solidFill>
                            <a:srgbClr val="000000"/>
                          </a:solidFill>
                        </a:rPr>
                      </a:b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•Chat briefly about interests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Students feel seen and respected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4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2.Normalize Struggles (Walton&amp;Cohen,2011; Walton&amp;Brady,2020)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•Share stories of past students’ challenges </a:t>
                      </a:r>
                      <a:br>
                        <a:rPr lang="en-US" sz="870">
                          <a:solidFill>
                            <a:srgbClr val="000000"/>
                          </a:solidFill>
                        </a:rPr>
                      </a:b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•Have students write letters to future students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Helps students reframe early struggles as normal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4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3.Use “Wise Feedback” (Cohenetal.,2006)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•Pair high expectations with support</a:t>
                      </a:r>
                      <a:br>
                        <a:rPr lang="en-US" sz="870">
                          <a:solidFill>
                            <a:srgbClr val="000000"/>
                          </a:solidFill>
                        </a:rPr>
                      </a:b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•Use reflection assignments on personal values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Builds confidence and combats stereotype threat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4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4.Cooperative Learning (Johnson &amp; Johnson,2009)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•Use Jigsaw or team projects </a:t>
                      </a:r>
                      <a:br>
                        <a:rPr lang="en-US" sz="870">
                          <a:solidFill>
                            <a:srgbClr val="000000"/>
                          </a:solidFill>
                        </a:rPr>
                      </a:b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•Assign individual roles in groupwork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Promotes peer connection and shared success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74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5.Share &amp; Celebrate Culture (Banks,2004)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•Invite students to share traditions </a:t>
                      </a:r>
                      <a:br>
                        <a:rPr lang="en-US" sz="870">
                          <a:solidFill>
                            <a:srgbClr val="000000"/>
                          </a:solidFill>
                        </a:rPr>
                      </a:b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•Integrate diverse voices in lessons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Increases inclusion for students from all backgrounds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4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6.Create a Safe Environment (Osterman,2000)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•Co-create class norms </a:t>
                      </a:r>
                      <a:br>
                        <a:rPr lang="en-US" sz="870">
                          <a:solidFill>
                            <a:srgbClr val="000000"/>
                          </a:solidFill>
                        </a:rPr>
                      </a:b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•Address bullying and exclusion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70">
                          <a:solidFill>
                            <a:srgbClr val="000000"/>
                          </a:solidFill>
                        </a:rPr>
                        <a:t>Makes students feel emotionally and physically safe</a:t>
                      </a:r>
                      <a:endParaRPr lang="en-US" sz="8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166291" y="1271569"/>
            <a:ext cx="5250269" cy="379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 algn="ctr">
              <a:buNone/>
            </a:pPr>
            <a:r>
              <a:rPr lang="en-US" b="1">
                <a:solidFill>
                  <a:srgbClr val="000000"/>
                </a:solidFill>
              </a:rPr>
              <a:t>1.Build Personal Connection </a:t>
            </a:r>
            <a:br>
              <a:rPr lang="en-US" b="1" dirty="0">
                <a:effectLst/>
              </a:rPr>
            </a:br>
            <a:endParaRPr lang="en-US" b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505425" y="3942318"/>
            <a:ext cx="4572000" cy="4648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30023CD-D730-44FB-9BD0-7D12117E20B5}"/>
              </a:ext>
            </a:extLst>
          </p:cNvPr>
          <p:cNvSpPr txBox="1"/>
          <p:nvPr/>
        </p:nvSpPr>
        <p:spPr>
          <a:xfrm>
            <a:off x="3505426" y="399008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Students feel seen and respected</a:t>
            </a:r>
            <a:endParaRPr lang="en-US" sz="180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E6C47657-9CFB-4C94-B1DF-518399B802D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7607" y="1560072"/>
            <a:ext cx="2544856" cy="267937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3505425" y="2022401"/>
            <a:ext cx="457200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>
                <a:solidFill>
                  <a:srgbClr val="000000"/>
                </a:solidFill>
              </a:rPr>
              <a:t>•Greet students by name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•Check in when they seem off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•Chat briefly about interests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9DADB-0968-5887-5AE3-FEBCBA82DE95}"/>
              </a:ext>
            </a:extLst>
          </p:cNvPr>
          <p:cNvSpPr txBox="1"/>
          <p:nvPr/>
        </p:nvSpPr>
        <p:spPr>
          <a:xfrm>
            <a:off x="6924252" y="4688355"/>
            <a:ext cx="1299086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(Goodenow,</a:t>
            </a:r>
            <a:r>
              <a:rPr lang="zh-TW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1993)</a:t>
            </a:r>
            <a:r>
              <a:rPr lang="en-US" sz="1100" dirty="0">
                <a:solidFill>
                  <a:schemeClr val="accent1">
                    <a:lumMod val="60000"/>
                    <a:lumOff val="40000"/>
                  </a:schemeClr>
                </a:solidFill>
                <a:ea typeface="Calibri"/>
                <a:cs typeface="Calibri"/>
              </a:rPr>
              <a:t>​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708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166291" y="1271569"/>
            <a:ext cx="5250269" cy="379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altLang="zh-TW" sz="1800" b="1" dirty="0">
                <a:solidFill>
                  <a:srgbClr val="000000"/>
                </a:solidFill>
                <a:ea typeface="新細明體"/>
              </a:rPr>
              <a:t>2.</a:t>
            </a:r>
            <a:r>
              <a:rPr lang="en-US" sz="1800" b="1" dirty="0">
                <a:solidFill>
                  <a:srgbClr val="000000"/>
                </a:solidFill>
              </a:rPr>
              <a:t>Normalize Struggles</a:t>
            </a:r>
            <a:br>
              <a:rPr lang="en-US" b="1" dirty="0">
                <a:effectLst/>
              </a:rPr>
            </a:br>
            <a:endParaRPr lang="en-US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505424" y="3942318"/>
            <a:ext cx="4692619" cy="4648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30023CD-D730-44FB-9BD0-7D12117E20B5}"/>
              </a:ext>
            </a:extLst>
          </p:cNvPr>
          <p:cNvSpPr txBox="1"/>
          <p:nvPr/>
        </p:nvSpPr>
        <p:spPr>
          <a:xfrm>
            <a:off x="3445113" y="3990087"/>
            <a:ext cx="4813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>
                <a:solidFill>
                  <a:srgbClr val="000000"/>
                </a:solidFill>
              </a:rPr>
              <a:t>Helps students reframe early struggles as normal</a:t>
            </a:r>
            <a:endParaRPr 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3505426" y="2449651"/>
            <a:ext cx="4572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</a:rPr>
              <a:t>•Share stories of past students’ challenges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•Have students write letters to future students</a:t>
            </a:r>
            <a:endParaRPr lang="en-US" sz="180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B4F0710-705F-4497-9FA7-90577F879E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133" r="5140"/>
          <a:stretch/>
        </p:blipFill>
        <p:spPr>
          <a:xfrm>
            <a:off x="285008" y="1461326"/>
            <a:ext cx="3378530" cy="305083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5B22923-C40C-4958-8A40-BD17AFE4EF14}"/>
              </a:ext>
            </a:extLst>
          </p:cNvPr>
          <p:cNvSpPr txBox="1"/>
          <p:nvPr/>
        </p:nvSpPr>
        <p:spPr>
          <a:xfrm>
            <a:off x="5355162" y="4677708"/>
            <a:ext cx="29593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(Walton &amp; Cohen,</a:t>
            </a:r>
            <a:r>
              <a:rPr lang="zh-TW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2011; Walton &amp; Brady, 2020)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94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流程圖: 卡片 6">
            <a:extLst>
              <a:ext uri="{FF2B5EF4-FFF2-40B4-BE49-F238E27FC236}">
                <a16:creationId xmlns:a16="http://schemas.microsoft.com/office/drawing/2014/main" id="{7C9ADEBC-1C6C-4C5B-9FB5-CF80B6CC92AF}"/>
              </a:ext>
            </a:extLst>
          </p:cNvPr>
          <p:cNvSpPr/>
          <p:nvPr/>
        </p:nvSpPr>
        <p:spPr>
          <a:xfrm flipH="1">
            <a:off x="6808709" y="1198418"/>
            <a:ext cx="2236484" cy="3648025"/>
          </a:xfrm>
          <a:prstGeom prst="flowChartPunchedCard">
            <a:avLst/>
          </a:prstGeom>
          <a:solidFill>
            <a:srgbClr val="FDC7C7"/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1389006" y="1440074"/>
            <a:ext cx="5250269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3.Use “Wise Feedback”</a:t>
            </a:r>
            <a:endParaRPr lang="en-US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1728139" y="4073892"/>
            <a:ext cx="4911133" cy="4648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30023CD-D730-44FB-9BD0-7D12117E20B5}"/>
              </a:ext>
            </a:extLst>
          </p:cNvPr>
          <p:cNvSpPr txBox="1"/>
          <p:nvPr/>
        </p:nvSpPr>
        <p:spPr>
          <a:xfrm>
            <a:off x="1728139" y="4121661"/>
            <a:ext cx="49111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Builds confidence and combats stereotype threat</a:t>
            </a:r>
            <a:endParaRPr lang="en-US" sz="18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1665718" y="2351223"/>
            <a:ext cx="4973557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•Pair high expectations with support</a:t>
            </a:r>
            <a:br>
              <a:rPr lang="en-US" sz="1800" dirty="0">
                <a:solidFill>
                  <a:srgbClr val="000000"/>
                </a:solidFill>
              </a:rPr>
            </a:br>
            <a:r>
              <a:rPr lang="en-US" sz="1800" dirty="0">
                <a:solidFill>
                  <a:srgbClr val="000000"/>
                </a:solidFill>
              </a:rPr>
              <a:t>•Use reflection assignments on personal values</a:t>
            </a:r>
            <a:endParaRPr lang="en-US" sz="18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71B3E6-F4E5-46D9-8934-D4D01EA1123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1989" y="1271569"/>
            <a:ext cx="1998860" cy="207881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82E283B-D9A4-4D8D-9993-9728F9A0B8BA}"/>
              </a:ext>
            </a:extLst>
          </p:cNvPr>
          <p:cNvSpPr txBox="1"/>
          <p:nvPr/>
        </p:nvSpPr>
        <p:spPr>
          <a:xfrm>
            <a:off x="5437707" y="4859132"/>
            <a:ext cx="12964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(Cohen</a:t>
            </a:r>
            <a:r>
              <a:rPr lang="zh-TW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et</a:t>
            </a:r>
            <a:r>
              <a:rPr lang="zh-TW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al.,2006)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9898484-15DE-4E82-BB7B-36AD6CBF3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8777" y="1341202"/>
            <a:ext cx="2116349" cy="33624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rgbClr val="062486"/>
                </a:solidFill>
                <a:effectLst/>
              </a:rPr>
              <a:t>What Is “Wise Feedback”?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Wise feedback</a:t>
            </a: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powerful teaching strategy that pairs </a:t>
            </a: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 expectations</a:t>
            </a: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</a:t>
            </a: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explicit reassurance and support</a:t>
            </a: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It tells students: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“I’m giving you this feedback because I know you’re capable of succeeding.”</a:t>
            </a:r>
            <a:endParaRPr kumimoji="0" lang="en-US" altLang="en-US" sz="8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type of feedback is especially effective for students who may feel unsure if they belong—such as those affected by stereotype threat or self-doubt. When teachers express belief in a student’s potential </a:t>
            </a: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</a:t>
            </a: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 the support to reach it, it helps students:</a:t>
            </a:r>
            <a:b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8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Feel seen and respected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Stay motivated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Develop resilience and confidence</a:t>
            </a:r>
            <a:b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en-US" altLang="en-US" sz="8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50" b="1" i="0" u="none" strike="noStrike" cap="none" normalizeH="0" baseline="0" dirty="0">
                <a:ln>
                  <a:noFill/>
                </a:ln>
                <a:solidFill>
                  <a:srgbClr val="062486"/>
                </a:solidFill>
                <a:effectLst/>
              </a:rPr>
              <a:t>Why it matters:</a:t>
            </a:r>
            <a:br>
              <a:rPr lang="en-US" altLang="en-US" sz="850" dirty="0"/>
            </a:br>
            <a:r>
              <a:rPr kumimoji="0" lang="en-US" altLang="en-US" sz="8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Research (Cohen et al., 2006) shows that wise feedback improves performance, strengthens trust between teachers and students, and combats stereotype threat by affirming students’ value and ability.</a:t>
            </a:r>
          </a:p>
        </p:txBody>
      </p:sp>
    </p:spTree>
    <p:extLst>
      <p:ext uri="{BB962C8B-B14F-4D97-AF65-F5344CB8AC3E}">
        <p14:creationId xmlns:p14="http://schemas.microsoft.com/office/powerpoint/2010/main" val="972792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流程圖: 卡片 12">
            <a:extLst>
              <a:ext uri="{FF2B5EF4-FFF2-40B4-BE49-F238E27FC236}">
                <a16:creationId xmlns:a16="http://schemas.microsoft.com/office/drawing/2014/main" id="{DD9FAD82-B13F-45B6-BE06-A12F6204391D}"/>
              </a:ext>
            </a:extLst>
          </p:cNvPr>
          <p:cNvSpPr/>
          <p:nvPr/>
        </p:nvSpPr>
        <p:spPr>
          <a:xfrm flipH="1">
            <a:off x="6770315" y="1020871"/>
            <a:ext cx="2207430" cy="4016483"/>
          </a:xfrm>
          <a:prstGeom prst="flowChartPunchedCard">
            <a:avLst/>
          </a:prstGeom>
          <a:solidFill>
            <a:srgbClr val="FDC7C7"/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1615179" y="1391148"/>
            <a:ext cx="5250269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4.Cooperative Learning</a:t>
            </a:r>
            <a:endParaRPr lang="en-US" sz="18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1954313" y="4061897"/>
            <a:ext cx="4572000" cy="4648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30023CD-D730-44FB-9BD0-7D12117E20B5}"/>
              </a:ext>
            </a:extLst>
          </p:cNvPr>
          <p:cNvSpPr txBox="1"/>
          <p:nvPr/>
        </p:nvSpPr>
        <p:spPr>
          <a:xfrm>
            <a:off x="1954314" y="410966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Promotes peer connection and shared success</a:t>
            </a:r>
            <a:endParaRPr lang="en-US" sz="18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1954314" y="2379486"/>
            <a:ext cx="4572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</a:rPr>
              <a:t>•Use Jigsaw or team projects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•Assign individual roles in groupwork</a:t>
            </a:r>
            <a:endParaRPr lang="en-US" sz="180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EB90F2-F490-4E8F-B846-836D3B79147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6255" y="1271570"/>
            <a:ext cx="2652404" cy="196371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71786A30-AFFF-411B-8B31-A408BE671D1D}"/>
              </a:ext>
            </a:extLst>
          </p:cNvPr>
          <p:cNvSpPr txBox="1"/>
          <p:nvPr/>
        </p:nvSpPr>
        <p:spPr>
          <a:xfrm>
            <a:off x="4853835" y="4725537"/>
            <a:ext cx="176617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(Johnson &amp; Johnson,</a:t>
            </a:r>
            <a:r>
              <a:rPr lang="zh-TW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2009)</a:t>
            </a:r>
            <a:endParaRPr lang="en-US" sz="11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B544EB9-F1AC-401F-99E3-1D842A3E0D95}"/>
              </a:ext>
            </a:extLst>
          </p:cNvPr>
          <p:cNvSpPr txBox="1"/>
          <p:nvPr/>
        </p:nvSpPr>
        <p:spPr>
          <a:xfrm>
            <a:off x="6835356" y="1062607"/>
            <a:ext cx="20397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40" b="1" dirty="0">
                <a:solidFill>
                  <a:srgbClr val="062486"/>
                </a:solidFill>
              </a:rPr>
              <a:t>What Is the Jigsaw Method?</a:t>
            </a:r>
          </a:p>
          <a:p>
            <a:r>
              <a:rPr lang="en-US" sz="840" dirty="0"/>
              <a:t>The </a:t>
            </a:r>
            <a:r>
              <a:rPr lang="en-US" sz="840" b="1" dirty="0"/>
              <a:t>Jigsaw method</a:t>
            </a:r>
            <a:r>
              <a:rPr lang="en-US" sz="840" dirty="0"/>
              <a:t> is a powerful cooperative learning strategy where </a:t>
            </a:r>
            <a:r>
              <a:rPr lang="en-US" sz="840" b="1" dirty="0"/>
              <a:t>each student becomes an expert on one part of a topic</a:t>
            </a:r>
            <a:r>
              <a:rPr lang="en-US" sz="840" dirty="0"/>
              <a:t>, and then teaches that part to their peers.</a:t>
            </a:r>
            <a:br>
              <a:rPr lang="en-US" sz="840" dirty="0"/>
            </a:br>
            <a:endParaRPr lang="en-US" sz="840" dirty="0"/>
          </a:p>
          <a:p>
            <a:r>
              <a:rPr lang="en-US" sz="840" b="1" dirty="0">
                <a:solidFill>
                  <a:srgbClr val="062486"/>
                </a:solidFill>
              </a:rPr>
              <a:t>How It Works:</a:t>
            </a:r>
          </a:p>
          <a:p>
            <a:pPr>
              <a:buFont typeface="+mj-lt"/>
              <a:buAutoNum type="arabicPeriod"/>
            </a:pPr>
            <a:r>
              <a:rPr lang="en-US" sz="840" b="1" dirty="0"/>
              <a:t>Divide a topic</a:t>
            </a:r>
            <a:r>
              <a:rPr lang="en-US" sz="840" dirty="0"/>
              <a:t> into several subtopics.</a:t>
            </a:r>
          </a:p>
          <a:p>
            <a:pPr>
              <a:buFont typeface="+mj-lt"/>
              <a:buAutoNum type="arabicPeriod"/>
            </a:pPr>
            <a:r>
              <a:rPr lang="en-US" sz="840" b="1" dirty="0"/>
              <a:t>Assign</a:t>
            </a:r>
            <a:r>
              <a:rPr lang="en-US" sz="840" dirty="0"/>
              <a:t> each student (or group) one subtopic to learn deeply—this is their “</a:t>
            </a:r>
            <a:r>
              <a:rPr lang="en-US" sz="840" b="1" dirty="0"/>
              <a:t>expert group</a:t>
            </a:r>
            <a:r>
              <a:rPr lang="en-US" sz="840" dirty="0"/>
              <a:t>.”</a:t>
            </a:r>
          </a:p>
          <a:p>
            <a:pPr>
              <a:buFont typeface="+mj-lt"/>
              <a:buAutoNum type="arabicPeriod"/>
            </a:pPr>
            <a:r>
              <a:rPr lang="en-US" sz="840" dirty="0"/>
              <a:t>Students meet in their expert groups to </a:t>
            </a:r>
            <a:r>
              <a:rPr lang="en-US" sz="840" b="1" dirty="0"/>
              <a:t>discuss and master</a:t>
            </a:r>
            <a:r>
              <a:rPr lang="en-US" sz="840" dirty="0"/>
              <a:t> their subtopic.</a:t>
            </a:r>
          </a:p>
          <a:p>
            <a:pPr>
              <a:buFont typeface="+mj-lt"/>
              <a:buAutoNum type="arabicPeriod"/>
            </a:pPr>
            <a:r>
              <a:rPr lang="en-US" sz="840" dirty="0"/>
              <a:t>Students then return to their original “</a:t>
            </a:r>
            <a:r>
              <a:rPr lang="en-US" sz="840" b="1" dirty="0"/>
              <a:t>jigsaw group</a:t>
            </a:r>
            <a:r>
              <a:rPr lang="en-US" sz="840" dirty="0"/>
              <a:t>,” where </a:t>
            </a:r>
            <a:r>
              <a:rPr lang="en-US" sz="840" b="1" dirty="0"/>
              <a:t>each student teaches their part</a:t>
            </a:r>
            <a:r>
              <a:rPr lang="en-US" sz="840" dirty="0"/>
              <a:t> to the rest of the group.</a:t>
            </a:r>
            <a:br>
              <a:rPr lang="en-US" sz="840" dirty="0"/>
            </a:br>
            <a:endParaRPr lang="en-US" sz="840" dirty="0"/>
          </a:p>
          <a:p>
            <a:r>
              <a:rPr lang="en-US" sz="840" b="1" dirty="0">
                <a:solidFill>
                  <a:srgbClr val="062486"/>
                </a:solidFill>
              </a:rPr>
              <a:t>Why It’s Effective: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40" dirty="0"/>
              <a:t>Every student plays a </a:t>
            </a:r>
            <a:r>
              <a:rPr lang="en-US" sz="840" b="1" dirty="0"/>
              <a:t>valuable role</a:t>
            </a:r>
            <a:r>
              <a:rPr lang="en-US" sz="840" dirty="0"/>
              <a:t>, which builds a sense of contribution.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40" dirty="0"/>
              <a:t>Encourages </a:t>
            </a:r>
            <a:r>
              <a:rPr lang="en-US" sz="840" b="1" dirty="0"/>
              <a:t>active listening, teamwork, and peer teaching</a:t>
            </a:r>
            <a:r>
              <a:rPr lang="en-US" sz="84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40" dirty="0"/>
              <a:t>Helps students feel </a:t>
            </a:r>
            <a:r>
              <a:rPr lang="en-US" sz="840" b="1" dirty="0"/>
              <a:t>responsible and respected</a:t>
            </a:r>
            <a:r>
              <a:rPr lang="en-US" sz="840" dirty="0"/>
              <a:t> for their knowledge.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40" dirty="0"/>
              <a:t>Increases understanding by </a:t>
            </a:r>
            <a:r>
              <a:rPr lang="en-US" sz="840" b="1" dirty="0"/>
              <a:t>teaching others</a:t>
            </a:r>
            <a:r>
              <a:rPr lang="en-US" sz="840" dirty="0"/>
              <a:t>, not just listening.</a:t>
            </a:r>
            <a:br>
              <a:rPr lang="en-US" sz="840" dirty="0"/>
            </a:br>
            <a:endParaRPr lang="en-US" sz="840" dirty="0"/>
          </a:p>
          <a:p>
            <a:r>
              <a:rPr lang="en-US" sz="840" dirty="0"/>
              <a:t>It’s called “Jigsaw” because each student’s piece is essential—just like a puzzle.</a:t>
            </a:r>
          </a:p>
        </p:txBody>
      </p:sp>
    </p:spTree>
    <p:extLst>
      <p:ext uri="{BB962C8B-B14F-4D97-AF65-F5344CB8AC3E}">
        <p14:creationId xmlns:p14="http://schemas.microsoft.com/office/powerpoint/2010/main" val="1303599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371904" y="1461988"/>
            <a:ext cx="5250269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5.Share &amp; Celebrate Culture</a:t>
            </a:r>
            <a:br>
              <a:rPr lang="en-US" b="1" dirty="0">
                <a:effectLst/>
              </a:rPr>
            </a:br>
            <a:endParaRPr lang="en-US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711039" y="4132323"/>
            <a:ext cx="5152237" cy="4648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30023CD-D730-44FB-9BD0-7D12117E20B5}"/>
              </a:ext>
            </a:extLst>
          </p:cNvPr>
          <p:cNvSpPr txBox="1"/>
          <p:nvPr/>
        </p:nvSpPr>
        <p:spPr>
          <a:xfrm>
            <a:off x="3662023" y="4180092"/>
            <a:ext cx="5250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Increases inclusion for students from all backgrounds</a:t>
            </a:r>
            <a:endParaRPr lang="en-US" sz="18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3711039" y="2522637"/>
            <a:ext cx="4572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</a:rPr>
              <a:t>•Invite students to share traditions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•Integrate diverse voices in lessons</a:t>
            </a:r>
            <a:endParaRPr lang="en-US" sz="180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5A8C84E-AEB7-4142-AB0D-F6F18436C5E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8135" y="1267534"/>
            <a:ext cx="3597396" cy="332966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466CDBF-1908-4778-B094-06817EBCA9F3}"/>
              </a:ext>
            </a:extLst>
          </p:cNvPr>
          <p:cNvSpPr txBox="1"/>
          <p:nvPr/>
        </p:nvSpPr>
        <p:spPr>
          <a:xfrm>
            <a:off x="7935238" y="4698001"/>
            <a:ext cx="10522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(Banks,</a:t>
            </a:r>
            <a:r>
              <a:rPr lang="zh-TW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2004)</a:t>
            </a:r>
          </a:p>
        </p:txBody>
      </p:sp>
    </p:spTree>
    <p:extLst>
      <p:ext uri="{BB962C8B-B14F-4D97-AF65-F5344CB8AC3E}">
        <p14:creationId xmlns:p14="http://schemas.microsoft.com/office/powerpoint/2010/main" val="3767426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27" name="流程圖: 卡片 26">
            <a:extLst>
              <a:ext uri="{FF2B5EF4-FFF2-40B4-BE49-F238E27FC236}">
                <a16:creationId xmlns:a16="http://schemas.microsoft.com/office/drawing/2014/main" id="{4481899F-FF2D-401C-B677-0AF169B6D8C6}"/>
              </a:ext>
            </a:extLst>
          </p:cNvPr>
          <p:cNvSpPr/>
          <p:nvPr/>
        </p:nvSpPr>
        <p:spPr>
          <a:xfrm flipH="1">
            <a:off x="6427517" y="709961"/>
            <a:ext cx="2568375" cy="4288629"/>
          </a:xfrm>
          <a:prstGeom prst="flowChartPunchedCard">
            <a:avLst/>
          </a:prstGeom>
          <a:solidFill>
            <a:srgbClr val="FDC7C7"/>
          </a:solidFill>
          <a:ln w="6350"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24757" y="1404104"/>
            <a:ext cx="5250269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6.Create a Safe Environment</a:t>
            </a:r>
            <a:br>
              <a:rPr lang="en-US" b="1" dirty="0">
                <a:effectLst/>
              </a:rPr>
            </a:br>
            <a:endParaRPr lang="en-US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1442934" y="4023737"/>
            <a:ext cx="4886696" cy="46487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30023CD-D730-44FB-9BD0-7D12117E20B5}"/>
              </a:ext>
            </a:extLst>
          </p:cNvPr>
          <p:cNvSpPr txBox="1"/>
          <p:nvPr/>
        </p:nvSpPr>
        <p:spPr>
          <a:xfrm>
            <a:off x="1268583" y="4071506"/>
            <a:ext cx="5250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>
                <a:solidFill>
                  <a:srgbClr val="000000"/>
                </a:solidFill>
              </a:rPr>
              <a:t>Makes students feel emotionally and physically safe</a:t>
            </a:r>
            <a:endParaRPr lang="en-US" sz="18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1607717" y="2359139"/>
            <a:ext cx="4572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>
                <a:solidFill>
                  <a:srgbClr val="000000"/>
                </a:solidFill>
              </a:rPr>
              <a:t>•Co-create class norms </a:t>
            </a:r>
            <a:br>
              <a:rPr lang="en-US" sz="1800">
                <a:solidFill>
                  <a:srgbClr val="000000"/>
                </a:solidFill>
              </a:rPr>
            </a:br>
            <a:r>
              <a:rPr lang="en-US" sz="1800">
                <a:solidFill>
                  <a:srgbClr val="000000"/>
                </a:solidFill>
              </a:rPr>
              <a:t>•Address bullying and exclusion</a:t>
            </a:r>
            <a:endParaRPr lang="en-US" sz="180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AF1D9A8-0ACC-4044-8FA6-A8A57EA5C05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321" y="966789"/>
            <a:ext cx="2437148" cy="2587126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963B4376-6A32-4323-8781-CC6D66EE1A9D}"/>
              </a:ext>
            </a:extLst>
          </p:cNvPr>
          <p:cNvSpPr txBox="1"/>
          <p:nvPr/>
        </p:nvSpPr>
        <p:spPr>
          <a:xfrm>
            <a:off x="4872626" y="4736980"/>
            <a:ext cx="191021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(Osterman,</a:t>
            </a:r>
            <a:r>
              <a:rPr lang="zh-TW" alt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1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2000)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3A6FAAE-1569-410C-825D-31CF0772D668}"/>
              </a:ext>
            </a:extLst>
          </p:cNvPr>
          <p:cNvSpPr txBox="1"/>
          <p:nvPr/>
        </p:nvSpPr>
        <p:spPr>
          <a:xfrm>
            <a:off x="6475026" y="656118"/>
            <a:ext cx="2400950" cy="448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40" b="1" dirty="0"/>
              <a:t>Address Bullying and Exclusion</a:t>
            </a:r>
          </a:p>
          <a:p>
            <a:r>
              <a:rPr lang="en-US" sz="840" b="1" dirty="0">
                <a:solidFill>
                  <a:srgbClr val="062486"/>
                </a:solidFill>
              </a:rPr>
              <a:t>What it means:</a:t>
            </a:r>
            <a:br>
              <a:rPr lang="en-US" sz="840" dirty="0">
                <a:solidFill>
                  <a:srgbClr val="062486"/>
                </a:solidFill>
              </a:rPr>
            </a:br>
            <a:r>
              <a:rPr lang="en-US" sz="840" dirty="0"/>
              <a:t>Actively recognizing and responding to unkind behavior, social isolation, or hurtful comments in the classroom—whether it’s </a:t>
            </a:r>
            <a:r>
              <a:rPr lang="en-US" sz="840" b="1" dirty="0"/>
              <a:t>physical</a:t>
            </a:r>
            <a:r>
              <a:rPr lang="en-US" sz="840" dirty="0"/>
              <a:t>, </a:t>
            </a:r>
            <a:r>
              <a:rPr lang="en-US" sz="840" b="1" dirty="0"/>
              <a:t>verbal</a:t>
            </a:r>
            <a:r>
              <a:rPr lang="en-US" sz="840" dirty="0"/>
              <a:t>, </a:t>
            </a:r>
            <a:r>
              <a:rPr lang="en-US" sz="840" b="1" dirty="0"/>
              <a:t>social</a:t>
            </a:r>
            <a:r>
              <a:rPr lang="en-US" sz="840" dirty="0"/>
              <a:t>, or </a:t>
            </a:r>
            <a:r>
              <a:rPr lang="en-US" sz="840" b="1" dirty="0"/>
              <a:t>online</a:t>
            </a:r>
            <a:r>
              <a:rPr lang="en-US" sz="840" dirty="0"/>
              <a:t>. It means creating a culture where </a:t>
            </a:r>
            <a:r>
              <a:rPr lang="en-US" sz="840" b="1" dirty="0"/>
              <a:t>everyone belongs</a:t>
            </a:r>
            <a:r>
              <a:rPr lang="en-US" sz="840" dirty="0"/>
              <a:t> and no student feels invisible or unsafe.</a:t>
            </a:r>
          </a:p>
          <a:p>
            <a:endParaRPr lang="en-US" sz="840" dirty="0"/>
          </a:p>
          <a:p>
            <a:r>
              <a:rPr lang="en-US" sz="840" b="1" dirty="0">
                <a:solidFill>
                  <a:srgbClr val="062486"/>
                </a:solidFill>
              </a:rPr>
              <a:t>What It Looks Like in the Classroom: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40" b="1" dirty="0"/>
              <a:t>Stopping it early</a:t>
            </a:r>
            <a:r>
              <a:rPr lang="en-US" sz="840" dirty="0"/>
              <a:t>: When a student rolls their eyes, whispers behind another’s back, or leaves someone out, gently step in and address it. </a:t>
            </a:r>
            <a:r>
              <a:rPr lang="en-US" sz="840" dirty="0">
                <a:solidFill>
                  <a:srgbClr val="FF0000"/>
                </a:solidFill>
              </a:rPr>
              <a:t>How can people address it. Address bullying immediately: What does it look like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40" b="1" dirty="0"/>
              <a:t>Speaking up</a:t>
            </a:r>
            <a:r>
              <a:rPr lang="en-US" sz="840" dirty="0"/>
              <a:t>: Say things like </a:t>
            </a:r>
            <a:r>
              <a:rPr lang="en-US" sz="840" i="1" dirty="0"/>
              <a:t>“We don’t leave people out in this class”</a:t>
            </a:r>
            <a:r>
              <a:rPr lang="en-US" sz="840" dirty="0"/>
              <a:t> or </a:t>
            </a:r>
            <a:r>
              <a:rPr lang="en-US" sz="840" i="1" dirty="0"/>
              <a:t>“Everyone deserves respect here.”</a:t>
            </a:r>
            <a:endParaRPr lang="en-US" sz="84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840" b="1" dirty="0">
                <a:solidFill>
                  <a:srgbClr val="FF0000"/>
                </a:solidFill>
              </a:rPr>
              <a:t>Restorative conversations</a:t>
            </a:r>
            <a:r>
              <a:rPr lang="en-US" sz="840" dirty="0"/>
              <a:t>: Guide students in talking through conflicts, apologizing, and understanding each other’s feelings. </a:t>
            </a:r>
            <a:r>
              <a:rPr lang="en-US" sz="840" dirty="0">
                <a:solidFill>
                  <a:srgbClr val="FF0000"/>
                </a:solidFill>
              </a:rPr>
              <a:t>Expand: What can those conversations look like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40" b="1" dirty="0"/>
              <a:t>Regular check-ins</a:t>
            </a:r>
            <a:r>
              <a:rPr lang="en-US" sz="840" dirty="0"/>
              <a:t>: Watch for quieter students who may be excluded or withdrawn and ask how they're doing.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840" b="1" dirty="0"/>
              <a:t>Inclusive activities</a:t>
            </a:r>
            <a:r>
              <a:rPr lang="en-US" sz="840" dirty="0"/>
              <a:t>: Use group games or seating plans that mix students up so no one is always left out.</a:t>
            </a:r>
            <a:br>
              <a:rPr lang="en-US" sz="840" dirty="0"/>
            </a:br>
            <a:endParaRPr lang="en-US" sz="840" dirty="0"/>
          </a:p>
          <a:p>
            <a:r>
              <a:rPr lang="en-US" sz="840" b="1" dirty="0">
                <a:solidFill>
                  <a:srgbClr val="062486"/>
                </a:solidFill>
              </a:rPr>
              <a:t>Why it matters</a:t>
            </a:r>
            <a:r>
              <a:rPr lang="en-US" sz="840" dirty="0">
                <a:solidFill>
                  <a:srgbClr val="062486"/>
                </a:solidFill>
              </a:rPr>
              <a:t>:</a:t>
            </a:r>
            <a:br>
              <a:rPr lang="en-US" sz="840" dirty="0"/>
            </a:br>
            <a:r>
              <a:rPr lang="en-US" sz="840" dirty="0"/>
              <a:t>When teachers take small moments seriously, it signals to students that this classroom is a safe and caring space. Addressing exclusion early builds trust and prevents deeper harm.</a:t>
            </a:r>
          </a:p>
        </p:txBody>
      </p:sp>
    </p:spTree>
    <p:extLst>
      <p:ext uri="{BB962C8B-B14F-4D97-AF65-F5344CB8AC3E}">
        <p14:creationId xmlns:p14="http://schemas.microsoft.com/office/powerpoint/2010/main" val="1229194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A50A54D-C143-471F-93FA-40C01DCB0B5F}"/>
              </a:ext>
            </a:extLst>
          </p:cNvPr>
          <p:cNvSpPr txBox="1"/>
          <p:nvPr/>
        </p:nvSpPr>
        <p:spPr>
          <a:xfrm>
            <a:off x="1656902" y="2557311"/>
            <a:ext cx="55285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solidFill>
                  <a:srgbClr val="0624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r>
              <a:rPr lang="en-US" sz="3600">
                <a:cs typeface="Noto Sans SC" pitchFamily="34" charset="-120"/>
              </a:rPr>
              <a:t> </a:t>
            </a:r>
            <a:r>
              <a:rPr lang="en-US" sz="3600" b="1">
                <a:solidFill>
                  <a:srgbClr val="062486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Sentence Starters for Daily Classroom Use</a:t>
            </a:r>
            <a:endParaRPr lang="en-US" sz="3600" b="1">
              <a:solidFill>
                <a:srgbClr val="062486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DAF5339-353A-42C7-8FA1-EF7577DB07AB}"/>
              </a:ext>
            </a:extLst>
          </p:cNvPr>
          <p:cNvSpPr txBox="1"/>
          <p:nvPr/>
        </p:nvSpPr>
        <p:spPr>
          <a:xfrm>
            <a:off x="3990110" y="642647"/>
            <a:ext cx="1312222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760" b="1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03</a:t>
            </a:r>
            <a:endParaRPr lang="en-US" sz="5760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520535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🗣️</a:t>
            </a:r>
            <a:endParaRPr lang="en-US" sz="21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301262"/>
              </p:ext>
            </p:extLst>
          </p:nvPr>
        </p:nvGraphicFramePr>
        <p:xfrm>
          <a:off x="285008" y="1128157"/>
          <a:ext cx="8573984" cy="3718998"/>
        </p:xfrm>
        <a:graphic>
          <a:graphicData uri="http://schemas.openxmlformats.org/drawingml/2006/table">
            <a:tbl>
              <a:tblPr/>
              <a:tblGrid>
                <a:gridCol w="4286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FFFFFF"/>
                          </a:solidFill>
                        </a:rPr>
                        <a:t>Suggested Language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64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000000"/>
                          </a:solidFill>
                        </a:rPr>
                        <a:t>A student seems withdrawn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“I noticed you were quiet today—want to talk about it?”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15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Giving feedback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“I’m giving you this feedback because I know you can grow even more.”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After group work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“Thanks for being such a great teammate—your role really mattered.”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Addressing the class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“In our classroom, everyone’s voice and story matter.”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Discussing struggle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“Most students feel unsure at first. It doesn’t mean you don’t belong.”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Welcoming cultural sharing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70">
                          <a:solidFill>
                            <a:srgbClr val="000000"/>
                          </a:solidFill>
                        </a:rPr>
                        <a:t>“That tradition is so meaningful—thanks for sharing it with us.”</a:t>
                      </a:r>
                      <a:endParaRPr lang="en-US" sz="1170"/>
                    </a:p>
                  </a:txBody>
                  <a:tcPr anchor="ctr">
                    <a:lnL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9E9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BB1D9FAF-3787-4013-B214-8B41D8E874DC}"/>
              </a:ext>
            </a:extLst>
          </p:cNvPr>
          <p:cNvSpPr txBox="1"/>
          <p:nvPr/>
        </p:nvSpPr>
        <p:spPr>
          <a:xfrm>
            <a:off x="1282535" y="296347"/>
            <a:ext cx="5961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Sentence Starters for Daily Classroom Use</a:t>
            </a:r>
            <a:endParaRPr lang="en-US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475049" y="1527900"/>
            <a:ext cx="5250269" cy="379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altLang="zh-TW" sz="1800" b="1">
                <a:solidFill>
                  <a:srgbClr val="000000"/>
                </a:solidFill>
                <a:ea typeface="新細明體"/>
              </a:rPr>
              <a:t>1.</a:t>
            </a:r>
            <a:r>
              <a:rPr lang="en-US" sz="1800" b="1">
                <a:solidFill>
                  <a:srgbClr val="000000"/>
                </a:solidFill>
              </a:rPr>
              <a:t> A student seems </a:t>
            </a:r>
            <a:r>
              <a:rPr lang="en-US" b="1">
                <a:solidFill>
                  <a:srgbClr val="000000"/>
                </a:solidFill>
              </a:rPr>
              <a:t>withdrawn</a:t>
            </a:r>
            <a:endParaRPr lang="en-US" sz="1800" b="1"/>
          </a:p>
          <a:p>
            <a:pPr marL="0" indent="0" algn="ctr">
              <a:buNone/>
            </a:pPr>
            <a:br>
              <a:rPr lang="en-US" b="1">
                <a:effectLst/>
              </a:rPr>
            </a:br>
            <a:endParaRPr lang="en-US" b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4045057" y="2258901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569005" y="2453521"/>
            <a:ext cx="3421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>
                <a:solidFill>
                  <a:srgbClr val="000000"/>
                </a:solidFill>
              </a:rPr>
              <a:t>“I noticed you were quiet today—want to talk about it?”</a:t>
            </a:r>
            <a:endParaRPr lang="en-US" sz="1800" i="1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F76DA89-3DC3-4C2F-9911-0A170E3C500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6512" y="1634778"/>
            <a:ext cx="3595329" cy="270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64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425735" y="930721"/>
            <a:ext cx="5250269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altLang="zh-TW" sz="1800" b="1" dirty="0">
                <a:solidFill>
                  <a:srgbClr val="000000"/>
                </a:solidFill>
              </a:rPr>
              <a:t>2.</a:t>
            </a:r>
            <a:r>
              <a:rPr lang="en-US" sz="1800" b="1" dirty="0">
                <a:solidFill>
                  <a:srgbClr val="000000"/>
                </a:solidFill>
              </a:rPr>
              <a:t> Giving feedback</a:t>
            </a:r>
            <a:endParaRPr lang="en-US" sz="1800" b="1" dirty="0"/>
          </a:p>
          <a:p>
            <a:pPr marL="0" indent="0" algn="ctr">
              <a:buNone/>
            </a:pPr>
            <a:br>
              <a:rPr lang="en-US" b="1" dirty="0">
                <a:effectLst/>
              </a:rPr>
            </a:br>
            <a:endParaRPr lang="en-US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883984" y="1660838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202681" y="1836580"/>
            <a:ext cx="37852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0000"/>
                </a:solidFill>
              </a:rPr>
              <a:t>“I’m giving you this feedback because I know you can grow even more.”</a:t>
            </a:r>
            <a:endParaRPr lang="en-US" sz="1800" i="1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D90FBBE-0FF8-436A-845E-777D71E1873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85000"/>
          </a:blip>
          <a:stretch>
            <a:fillRect/>
          </a:stretch>
        </p:blipFill>
        <p:spPr>
          <a:xfrm>
            <a:off x="766425" y="861072"/>
            <a:ext cx="2752079" cy="179758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A344518F-B96C-42E9-9CC6-6E7E34F98807}"/>
              </a:ext>
            </a:extLst>
          </p:cNvPr>
          <p:cNvSpPr txBox="1"/>
          <p:nvPr/>
        </p:nvSpPr>
        <p:spPr>
          <a:xfrm>
            <a:off x="551946" y="2901554"/>
            <a:ext cx="4193353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062486"/>
                </a:solidFill>
              </a:rPr>
              <a:t>More Feedback Strategies That Show You Believe in Students:  </a:t>
            </a:r>
            <a:r>
              <a:rPr lang="en-US" sz="900" b="1" dirty="0">
                <a:solidFill>
                  <a:srgbClr val="FF0000"/>
                </a:solidFill>
              </a:rPr>
              <a:t>Six slides</a:t>
            </a:r>
            <a:br>
              <a:rPr lang="en-US" sz="850" dirty="0"/>
            </a:br>
            <a:endParaRPr lang="en-US" sz="850" dirty="0"/>
          </a:p>
          <a:p>
            <a:r>
              <a:rPr lang="en-US" sz="850" b="1" dirty="0">
                <a:solidFill>
                  <a:srgbClr val="062486"/>
                </a:solidFill>
              </a:rPr>
              <a:t>1. Name the Strength First</a:t>
            </a:r>
          </a:p>
          <a:p>
            <a:r>
              <a:rPr lang="en-US" sz="850" b="1" dirty="0"/>
              <a:t>“You explained your idea really clearly here — let’s see how we can add more details to make it even stronger.”</a:t>
            </a:r>
          </a:p>
          <a:p>
            <a:r>
              <a:rPr lang="en-US" sz="850" dirty="0"/>
              <a:t>Starts with encouragement and builds momentum for improvement.</a:t>
            </a:r>
            <a:br>
              <a:rPr lang="en-US" sz="850" dirty="0"/>
            </a:br>
            <a:endParaRPr lang="en-US" sz="850" dirty="0"/>
          </a:p>
          <a:p>
            <a:r>
              <a:rPr lang="en-US" sz="850" b="1" dirty="0">
                <a:solidFill>
                  <a:srgbClr val="062486"/>
                </a:solidFill>
              </a:rPr>
              <a:t>2. Be Specific, Not Generic</a:t>
            </a:r>
          </a:p>
          <a:p>
            <a:r>
              <a:rPr lang="en-US" sz="850" dirty="0"/>
              <a:t>Instead of “Good job,” say:</a:t>
            </a:r>
          </a:p>
          <a:p>
            <a:r>
              <a:rPr lang="en-US" sz="850" b="1" dirty="0"/>
              <a:t>“I like how you supported your opinion with an example from the story.”</a:t>
            </a:r>
          </a:p>
          <a:p>
            <a:r>
              <a:rPr lang="en-US" sz="850" dirty="0"/>
              <a:t>Helps students know exactly what to keep doing and builds confidence.</a:t>
            </a:r>
            <a:br>
              <a:rPr lang="en-US" sz="850" dirty="0"/>
            </a:br>
            <a:endParaRPr lang="en-US" sz="850" dirty="0"/>
          </a:p>
          <a:p>
            <a:r>
              <a:rPr lang="en-US" sz="850" b="1" dirty="0">
                <a:solidFill>
                  <a:srgbClr val="062486"/>
                </a:solidFill>
              </a:rPr>
              <a:t>3. Focus on Effort and Process</a:t>
            </a:r>
          </a:p>
          <a:p>
            <a:r>
              <a:rPr lang="en-US" sz="850" b="1" dirty="0"/>
              <a:t>“I can tell you worked hard to organize your thoughts — let’s keep building on that.”</a:t>
            </a:r>
          </a:p>
          <a:p>
            <a:r>
              <a:rPr lang="en-US" sz="850" dirty="0"/>
              <a:t>Reinforces a growth mindset and values persistence.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89FEFAD-AD6E-4DC9-ADE1-39AA4A9552DD}"/>
              </a:ext>
            </a:extLst>
          </p:cNvPr>
          <p:cNvSpPr txBox="1"/>
          <p:nvPr/>
        </p:nvSpPr>
        <p:spPr>
          <a:xfrm>
            <a:off x="4789140" y="3152455"/>
            <a:ext cx="409807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0" b="1" dirty="0">
                <a:solidFill>
                  <a:srgbClr val="062486"/>
                </a:solidFill>
              </a:rPr>
              <a:t>4. Invite Student Reflection</a:t>
            </a:r>
          </a:p>
          <a:p>
            <a:r>
              <a:rPr lang="en-US" sz="850" b="1" dirty="0"/>
              <a:t>“How did you feel about this part? Where do you think you improved?”</a:t>
            </a:r>
          </a:p>
          <a:p>
            <a:r>
              <a:rPr lang="en-US" sz="850" dirty="0"/>
              <a:t>Encourages ownership and deeper engagement with learning.</a:t>
            </a:r>
            <a:br>
              <a:rPr lang="en-US" sz="850" dirty="0"/>
            </a:br>
            <a:endParaRPr lang="en-US" sz="850" dirty="0"/>
          </a:p>
          <a:p>
            <a:r>
              <a:rPr lang="en-US" sz="850" b="1" dirty="0">
                <a:solidFill>
                  <a:srgbClr val="062486"/>
                </a:solidFill>
              </a:rPr>
              <a:t>5. Connect to Progress Over Time</a:t>
            </a:r>
          </a:p>
          <a:p>
            <a:r>
              <a:rPr lang="en-US" sz="850" b="1" dirty="0"/>
              <a:t>“Last month this was tough for you, but now look at how much clearer your writing is!”</a:t>
            </a:r>
          </a:p>
          <a:p>
            <a:r>
              <a:rPr lang="en-US" sz="850" dirty="0"/>
              <a:t>Makes growth visible and motivates continued effort.</a:t>
            </a:r>
            <a:br>
              <a:rPr lang="en-US" sz="850" dirty="0"/>
            </a:br>
            <a:endParaRPr lang="en-US" sz="850" dirty="0"/>
          </a:p>
          <a:p>
            <a:r>
              <a:rPr lang="en-US" sz="850" b="1" dirty="0">
                <a:solidFill>
                  <a:srgbClr val="062486"/>
                </a:solidFill>
              </a:rPr>
              <a:t>6. Use Encouraging Language for Mistakes</a:t>
            </a:r>
          </a:p>
          <a:p>
            <a:r>
              <a:rPr lang="en-US" sz="850" b="1" dirty="0"/>
              <a:t>“Mistakes are part of learning — I’m glad you took a risk here. Let’s see how we can revise it.”</a:t>
            </a:r>
          </a:p>
          <a:p>
            <a:r>
              <a:rPr lang="en-US" sz="850" dirty="0"/>
              <a:t>Normalizes struggle and reduces fear of failure.</a:t>
            </a:r>
          </a:p>
        </p:txBody>
      </p:sp>
    </p:spTree>
    <p:extLst>
      <p:ext uri="{BB962C8B-B14F-4D97-AF65-F5344CB8AC3E}">
        <p14:creationId xmlns:p14="http://schemas.microsoft.com/office/powerpoint/2010/main" val="765607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359950" y="1703642"/>
            <a:ext cx="5250269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altLang="zh-TW" sz="1800" b="1">
                <a:solidFill>
                  <a:srgbClr val="000000"/>
                </a:solidFill>
              </a:rPr>
              <a:t>3. </a:t>
            </a:r>
            <a:r>
              <a:rPr lang="en-US" sz="1800" b="1">
                <a:solidFill>
                  <a:srgbClr val="000000"/>
                </a:solidFill>
              </a:rPr>
              <a:t>After group work</a:t>
            </a:r>
            <a:endParaRPr lang="en-US" sz="1800" b="1"/>
          </a:p>
          <a:p>
            <a:pPr marL="0" indent="0" algn="ctr">
              <a:buNone/>
            </a:pPr>
            <a:endParaRPr lang="en-US" sz="1800" b="1"/>
          </a:p>
          <a:p>
            <a:pPr marL="0" indent="0" algn="ctr">
              <a:buNone/>
            </a:pPr>
            <a:br>
              <a:rPr lang="en-US" b="1">
                <a:effectLst/>
              </a:rPr>
            </a:br>
            <a:endParaRPr lang="en-US" b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976741" y="2434643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091839" y="2610385"/>
            <a:ext cx="4239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>
                <a:solidFill>
                  <a:srgbClr val="000000"/>
                </a:solidFill>
              </a:rPr>
              <a:t>“Thanks for being such a great teammate—your role really mattered.”</a:t>
            </a:r>
            <a:endParaRPr lang="en-US" sz="1800" i="1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166DFC8-60E0-4AF6-AD82-ADC05EEE12C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5297" y="1044506"/>
            <a:ext cx="3155791" cy="342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51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359950" y="1703642"/>
            <a:ext cx="5250269" cy="379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altLang="zh-TW" sz="1800" b="1">
                <a:solidFill>
                  <a:srgbClr val="000000"/>
                </a:solidFill>
                <a:ea typeface="新細明體"/>
              </a:rPr>
              <a:t>4.</a:t>
            </a:r>
            <a:r>
              <a:rPr lang="en-US" sz="1800" b="1">
                <a:solidFill>
                  <a:srgbClr val="000000"/>
                </a:solidFill>
              </a:rPr>
              <a:t> </a:t>
            </a:r>
            <a:r>
              <a:rPr lang="en-US" b="1">
                <a:solidFill>
                  <a:srgbClr val="000000"/>
                </a:solidFill>
              </a:rPr>
              <a:t>Addressing the class</a:t>
            </a:r>
            <a:endParaRPr lang="en-US" sz="1800" b="1"/>
          </a:p>
          <a:p>
            <a:pPr algn="ctr"/>
            <a:endParaRPr lang="en-US" sz="1800" b="1"/>
          </a:p>
          <a:p>
            <a:pPr marL="0" indent="0" algn="ctr">
              <a:buNone/>
            </a:pPr>
            <a:endParaRPr lang="en-US" sz="1800" b="1"/>
          </a:p>
          <a:p>
            <a:pPr marL="0" indent="0" algn="ctr">
              <a:buNone/>
            </a:pPr>
            <a:br>
              <a:rPr lang="en-US" b="1">
                <a:effectLst/>
              </a:rPr>
            </a:br>
            <a:endParaRPr lang="en-US" b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976741" y="2434643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091839" y="2610385"/>
            <a:ext cx="4239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>
                <a:solidFill>
                  <a:srgbClr val="000000"/>
                </a:solidFill>
              </a:rPr>
              <a:t>“In our classroom, everyone’s voice and story matter.”</a:t>
            </a:r>
            <a:endParaRPr lang="en-US" sz="1800" i="1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681D97B-23C9-4259-A6C4-3001566DF7F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5536" y="1261700"/>
            <a:ext cx="3401205" cy="310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12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4208795" y="1777500"/>
            <a:ext cx="4005354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altLang="zh-TW" sz="1800" b="1" dirty="0">
                <a:solidFill>
                  <a:srgbClr val="000000"/>
                </a:solidFill>
              </a:rPr>
              <a:t>5.</a:t>
            </a:r>
            <a:r>
              <a:rPr lang="en-US" sz="1800" b="1" dirty="0">
                <a:solidFill>
                  <a:srgbClr val="000000"/>
                </a:solidFill>
              </a:rPr>
              <a:t> </a:t>
            </a:r>
            <a:r>
              <a:rPr lang="en-US" b="1" dirty="0"/>
              <a:t>Normalizing Struggles in Peer Settings</a:t>
            </a:r>
            <a:endParaRPr lang="en-US" sz="1800" b="1" dirty="0"/>
          </a:p>
          <a:p>
            <a:pPr marL="0" indent="0" algn="ctr">
              <a:buNone/>
            </a:pPr>
            <a:endParaRPr lang="en-US" sz="1800" b="1" dirty="0"/>
          </a:p>
          <a:p>
            <a:pPr marL="0" indent="0" algn="ctr">
              <a:buNone/>
            </a:pPr>
            <a:br>
              <a:rPr lang="en-US" b="1" dirty="0">
                <a:effectLst/>
              </a:rPr>
            </a:br>
            <a:endParaRPr lang="en-US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3976741" y="2434643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091839" y="2610385"/>
            <a:ext cx="4239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>
                <a:solidFill>
                  <a:srgbClr val="000000"/>
                </a:solidFill>
              </a:rPr>
              <a:t>“Most students feel unsure at first. It doesn’t mean you don’t belong.”</a:t>
            </a:r>
            <a:endParaRPr lang="en-US" sz="1800" i="1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FECED70-D18A-4A19-A951-3CB7DBC1F1B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8598" y="754798"/>
            <a:ext cx="3173044" cy="435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9158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90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4" name="Text 2"/>
          <p:cNvSpPr/>
          <p:nvPr/>
        </p:nvSpPr>
        <p:spPr>
          <a:xfrm>
            <a:off x="3443077" y="1703642"/>
            <a:ext cx="5250269" cy="3795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altLang="zh-TW" sz="1800" b="1">
                <a:solidFill>
                  <a:srgbClr val="000000"/>
                </a:solidFill>
              </a:rPr>
              <a:t>6.</a:t>
            </a:r>
            <a:r>
              <a:rPr lang="en-US" sz="1800" b="1">
                <a:solidFill>
                  <a:srgbClr val="000000"/>
                </a:solidFill>
              </a:rPr>
              <a:t> Welcoming cultural sharing</a:t>
            </a:r>
            <a:endParaRPr lang="en-US" sz="1800" b="1"/>
          </a:p>
          <a:p>
            <a:pPr algn="ctr"/>
            <a:endParaRPr lang="en-US" sz="1800" b="1"/>
          </a:p>
          <a:p>
            <a:pPr marL="0" indent="0" algn="ctr">
              <a:buNone/>
            </a:pPr>
            <a:endParaRPr lang="en-US" sz="1800" b="1"/>
          </a:p>
          <a:p>
            <a:pPr marL="0" indent="0" algn="ctr">
              <a:buNone/>
            </a:pPr>
            <a:br>
              <a:rPr lang="en-US" b="1">
                <a:effectLst/>
              </a:rPr>
            </a:br>
            <a:endParaRPr lang="en-US" b="1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8A24369-D041-40DC-8014-7B6BE914E3EF}"/>
              </a:ext>
            </a:extLst>
          </p:cNvPr>
          <p:cNvSpPr txBox="1"/>
          <p:nvPr/>
        </p:nvSpPr>
        <p:spPr>
          <a:xfrm>
            <a:off x="4059868" y="2434643"/>
            <a:ext cx="4469463" cy="997817"/>
          </a:xfrm>
          <a:prstGeom prst="rect">
            <a:avLst/>
          </a:prstGeom>
          <a:solidFill>
            <a:srgbClr val="FDC7C7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7B0247B-C62B-46E4-846A-121067B22CD4}"/>
              </a:ext>
            </a:extLst>
          </p:cNvPr>
          <p:cNvSpPr txBox="1"/>
          <p:nvPr/>
        </p:nvSpPr>
        <p:spPr>
          <a:xfrm>
            <a:off x="4174966" y="2610385"/>
            <a:ext cx="4239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i="1">
                <a:solidFill>
                  <a:srgbClr val="000000"/>
                </a:solidFill>
              </a:rPr>
              <a:t>“That tradition is so meaningful—thanks for sharing it with us.”</a:t>
            </a:r>
            <a:endParaRPr lang="en-US" sz="1800" i="1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7870411-E3A2-44BB-8A60-70EA5888F94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15180" y="1459856"/>
            <a:ext cx="3661560" cy="282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793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6A50A54D-C143-471F-93FA-40C01DCB0B5F}"/>
              </a:ext>
            </a:extLst>
          </p:cNvPr>
          <p:cNvSpPr txBox="1"/>
          <p:nvPr/>
        </p:nvSpPr>
        <p:spPr>
          <a:xfrm>
            <a:off x="1656902" y="2628563"/>
            <a:ext cx="5528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>
                <a:solidFill>
                  <a:srgbClr val="06248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🎞</a:t>
            </a:r>
            <a:r>
              <a:rPr lang="en-US" sz="3600">
                <a:cs typeface="Noto Sans SC" pitchFamily="34" charset="-120"/>
              </a:rPr>
              <a:t> </a:t>
            </a:r>
            <a:r>
              <a:rPr lang="en-US" altLang="zh-TW" sz="3600" b="1">
                <a:solidFill>
                  <a:srgbClr val="062486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Video Library</a:t>
            </a:r>
            <a:endParaRPr lang="en-US" sz="3600" b="1">
              <a:solidFill>
                <a:srgbClr val="062486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EE894ED-CB21-41B4-BB55-3BAC9909D106}"/>
              </a:ext>
            </a:extLst>
          </p:cNvPr>
          <p:cNvSpPr txBox="1"/>
          <p:nvPr/>
        </p:nvSpPr>
        <p:spPr>
          <a:xfrm>
            <a:off x="1126671" y="3846409"/>
            <a:ext cx="68906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>
                <a:effectLst/>
                <a:ea typeface="Times New Roman" panose="02020603050405020304" pitchFamily="18" charset="0"/>
              </a:rPr>
              <a:t>Family’s Videos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TW" sz="1800" b="1" kern="0">
                <a:effectLst/>
                <a:ea typeface="Times New Roman" panose="02020603050405020304" pitchFamily="18" charset="0"/>
              </a:rPr>
              <a:t>|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sz="1800" b="1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Teachers’ Videos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TW" sz="1800" b="1" kern="0">
                <a:effectLst/>
                <a:ea typeface="Times New Roman" panose="02020603050405020304" pitchFamily="18" charset="0"/>
              </a:rPr>
              <a:t>|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sz="1800" b="1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Teens’ Videos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altLang="zh-TW" sz="1800" b="1" kern="0">
                <a:effectLst/>
                <a:ea typeface="Times New Roman" panose="02020603050405020304" pitchFamily="18" charset="0"/>
              </a:rPr>
              <a:t>|</a:t>
            </a:r>
            <a:r>
              <a:rPr lang="zh-TW" altLang="en-US" sz="1800" b="1" kern="0">
                <a:effectLst/>
                <a:ea typeface="Times New Roman" panose="02020603050405020304" pitchFamily="18" charset="0"/>
              </a:rPr>
              <a:t> </a:t>
            </a:r>
            <a:r>
              <a:rPr lang="en-US" sz="1800" b="1" kern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Children’s Videos</a:t>
            </a:r>
            <a:endParaRPr lang="en-US" sz="1800" kern="10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sz="1800" kern="10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endParaRPr lang="en-US" sz="1800" kern="10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4187AB6-4EFC-48EF-934D-F7F66645F06B}"/>
              </a:ext>
            </a:extLst>
          </p:cNvPr>
          <p:cNvSpPr txBox="1"/>
          <p:nvPr/>
        </p:nvSpPr>
        <p:spPr>
          <a:xfrm>
            <a:off x="3990110" y="642647"/>
            <a:ext cx="1312222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760" b="1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04</a:t>
            </a:r>
            <a:endParaRPr lang="en-US" sz="5760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061758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6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498119" y="295573"/>
            <a:ext cx="2601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Family’s Videos</a:t>
            </a:r>
            <a:endParaRPr lang="en-US" sz="2400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FC94F9-579E-496E-9770-F8B46ACAB5AC}"/>
              </a:ext>
            </a:extLst>
          </p:cNvPr>
          <p:cNvSpPr txBox="1"/>
          <p:nvPr/>
        </p:nvSpPr>
        <p:spPr>
          <a:xfrm>
            <a:off x="418966" y="1052811"/>
            <a:ext cx="4466186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TW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Promoting Child and Teen Mental Well-being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3"/>
              </a:rPr>
              <a:t>How families can support a child's mental health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4"/>
              </a:rPr>
              <a:t>A parent's perspective on children's mental illness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5"/>
              </a:rPr>
              <a:t>The Importance of Raising an Emotionally Intelligent Child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6"/>
              </a:rPr>
              <a:t>Raising Happy Teenagers</a:t>
            </a:r>
            <a:br>
              <a:rPr lang="en-US" sz="1200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 Resilience Building for Families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7"/>
              </a:rPr>
              <a:t>The seesaw effect: building children’s resilience by emotional regulation</a:t>
            </a:r>
            <a:br>
              <a:rPr lang="en-US" sz="1200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Exploring Teen Career Paths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8"/>
              </a:rPr>
              <a:t>Questions Every Teenager Needs to Be Asked</a:t>
            </a:r>
            <a:br>
              <a:rPr lang="en-US" sz="1200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0" dirty="0">
              <a:solidFill>
                <a:srgbClr val="0000FF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4. Supporting Children and Teens with Depression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9"/>
              </a:rPr>
              <a:t>10 Ways to Help When Your Child is Depressed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0"/>
              </a:rPr>
              <a:t>Tackling Teenage Depression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1"/>
              </a:rPr>
              <a:t>How To Help Your Teen With Depression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FB0F34C-770B-446C-94D2-5754BF64327D}"/>
              </a:ext>
            </a:extLst>
          </p:cNvPr>
          <p:cNvSpPr txBox="1"/>
          <p:nvPr/>
        </p:nvSpPr>
        <p:spPr>
          <a:xfrm>
            <a:off x="4816259" y="1052811"/>
            <a:ext cx="416490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5. Parenting a Suicidal Child or Teen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2"/>
              </a:rPr>
              <a:t>How Do I Parent My Suicidal Child/Teen?</a:t>
            </a:r>
            <a:br>
              <a:rPr lang="en-US" sz="1200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6. Supporting Children with Anxiety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3"/>
              </a:rPr>
              <a:t>Children's Anxiety: 3 Ways to Help Your Anxious Child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4"/>
              </a:rPr>
              <a:t>How to raise kids who can overcome anxiety</a:t>
            </a:r>
            <a:br>
              <a:rPr lang="en-US" sz="1200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0" dirty="0">
              <a:solidFill>
                <a:srgbClr val="0000FF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7. Understanding and Connecting with Teens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5"/>
              </a:rPr>
              <a:t>What Teenagers Want You to Know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6"/>
              </a:rPr>
              <a:t>Be a better parent by partnering with your teen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7"/>
              </a:rPr>
              <a:t>How To Make A Shy Kid Confident</a:t>
            </a:r>
            <a:br>
              <a:rPr lang="en-US" sz="12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8. Helping Anxious Children: A 4-Part Parenting Guide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8"/>
              </a:rPr>
              <a:t>How to Help a Child With Anxiety: A Parent-Centered Approach to Managing Children’s Anxiety Part 1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9"/>
              </a:rPr>
              <a:t>How to Create Emotional Safety for a Child with Anxiety Part 2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20"/>
              </a:rPr>
              <a:t>Teach your kid to face their fears with scaffolding - Help anxious children part 3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21"/>
              </a:rPr>
              <a:t>12 Ways to Help A Child with Anxiety Part 4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22"/>
              </a:rPr>
              <a:t>10 Tips for Parenting Anxious Kids | Child Mind Institute</a:t>
            </a:r>
            <a:endParaRPr lang="en-US" sz="1200" dirty="0"/>
          </a:p>
          <a:p>
            <a:pPr marR="0" lvl="0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200" kern="100" dirty="0">
              <a:solidFill>
                <a:srgbClr val="0070C0"/>
              </a:solidFill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1752C26-2FCF-4087-AC84-4664A8353F84}"/>
              </a:ext>
            </a:extLst>
          </p:cNvPr>
          <p:cNvSpPr txBox="1"/>
          <p:nvPr/>
        </p:nvSpPr>
        <p:spPr>
          <a:xfrm>
            <a:off x="3480113" y="397967"/>
            <a:ext cx="5088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chemeClr val="bg1"/>
                </a:solidFill>
              </a:rPr>
              <a:t>For parents—to understand and support your child.</a:t>
            </a:r>
          </a:p>
        </p:txBody>
      </p:sp>
    </p:spTree>
    <p:extLst>
      <p:ext uri="{BB962C8B-B14F-4D97-AF65-F5344CB8AC3E}">
        <p14:creationId xmlns:p14="http://schemas.microsoft.com/office/powerpoint/2010/main" val="653662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6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498119" y="295573"/>
            <a:ext cx="2601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ker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Teachers’ Videos</a:t>
            </a:r>
            <a:endParaRPr lang="en-US" sz="2400" kern="100">
              <a:solidFill>
                <a:schemeClr val="bg1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FC94F9-579E-496E-9770-F8B46ACAB5AC}"/>
              </a:ext>
            </a:extLst>
          </p:cNvPr>
          <p:cNvSpPr txBox="1"/>
          <p:nvPr/>
        </p:nvSpPr>
        <p:spPr>
          <a:xfrm>
            <a:off x="498119" y="1222015"/>
            <a:ext cx="384166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1. Building Resilience in the Classroom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3"/>
              </a:rPr>
              <a:t>How to build resilient children</a:t>
            </a:r>
            <a:br>
              <a:rPr lang="en-US" sz="1200" u="sng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 Supporting Students with Anxiety and Depression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4"/>
              </a:rPr>
              <a:t>Classroom Strategies to Support Student Depression &amp; Anxiety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5"/>
              </a:rPr>
              <a:t>Ask the experts: Depression in kids and how to help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6"/>
              </a:rPr>
              <a:t>Grounding Exercise to Manage Anxiety</a:t>
            </a:r>
            <a:br>
              <a:rPr lang="en-US" sz="1200" u="sng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Understanding and Supporting Students with ADHD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7"/>
              </a:rPr>
              <a:t>Strategies to Support Students with ADHD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8"/>
              </a:rPr>
              <a:t>Rethinking ADHD</a:t>
            </a:r>
            <a:br>
              <a:rPr lang="en-US" sz="1200" dirty="0"/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4. Engaging Teaching and Learning Strategies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9"/>
              </a:rPr>
              <a:t>How to make students (and teachers) want to go to school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FB0F34C-770B-446C-94D2-5754BF64327D}"/>
              </a:ext>
            </a:extLst>
          </p:cNvPr>
          <p:cNvSpPr txBox="1"/>
          <p:nvPr/>
        </p:nvSpPr>
        <p:spPr>
          <a:xfrm>
            <a:off x="4665231" y="1222015"/>
            <a:ext cx="3942607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5. Emotion Regulation and Student Mental Health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0"/>
              </a:rPr>
              <a:t>Why Teaching Teens Songwriting Can Make the World a Better Place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1"/>
              </a:rPr>
              <a:t>Rethinking Challenging Kids-Where There's a Skill There's a Way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2"/>
              </a:rPr>
              <a:t>Teacher’s ‘emotion check-in’ helps students share their feelings (kids)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3"/>
              </a:rPr>
              <a:t>Check-In / Check-Out: Providing a Daily Support System for Students </a:t>
            </a:r>
            <a:r>
              <a:rPr lang="en-US" altLang="zh-TW" sz="1200" dirty="0">
                <a:hlinkClick r:id="rId13"/>
              </a:rPr>
              <a:t>(kids)</a:t>
            </a:r>
            <a:endParaRPr lang="en-US" altLang="zh-TW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4"/>
              </a:rPr>
              <a:t>Managing Intense Emotions for Middle School Students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5"/>
              </a:rPr>
              <a:t>Mindfulness for Middle School Students</a:t>
            </a:r>
            <a:br>
              <a:rPr lang="en-US" sz="1200" u="sng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6. Guiding Teens on Career Exploration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6"/>
              </a:rPr>
              <a:t>Questions Every Teenager Needs to Be Asked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7"/>
              </a:rPr>
              <a:t>How to Find Your Path After School</a:t>
            </a:r>
            <a:br>
              <a:rPr lang="en-US" sz="1200" u="sng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7. Creating Trust and Belonging in School Settings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8"/>
              </a:rPr>
              <a:t>Every kid needs a champion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5D9D42B-35C1-4E24-9594-C72835B267E0}"/>
              </a:ext>
            </a:extLst>
          </p:cNvPr>
          <p:cNvSpPr txBox="1"/>
          <p:nvPr/>
        </p:nvSpPr>
        <p:spPr>
          <a:xfrm>
            <a:off x="3472886" y="430400"/>
            <a:ext cx="50885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chemeClr val="bg1"/>
                </a:solidFill>
                <a:effectLst/>
              </a:rPr>
              <a:t>For teachers—to support student mental health and learning.</a:t>
            </a:r>
            <a:endParaRPr lang="en-US" sz="1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558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6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498119" y="295573"/>
            <a:ext cx="2601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ker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Teens’ Videos</a:t>
            </a:r>
            <a:endParaRPr lang="en-US" sz="3200" kern="100">
              <a:solidFill>
                <a:schemeClr val="bg1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FC94F9-579E-496E-9770-F8B46ACAB5AC}"/>
              </a:ext>
            </a:extLst>
          </p:cNvPr>
          <p:cNvSpPr txBox="1"/>
          <p:nvPr/>
        </p:nvSpPr>
        <p:spPr>
          <a:xfrm>
            <a:off x="680228" y="1144566"/>
            <a:ext cx="38416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1. Exploring Future Careers: A Teen’s Guide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3"/>
              </a:rPr>
              <a:t>Questions Every Teenager Needs to Be Asked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4"/>
              </a:rPr>
              <a:t>How to Find Your Passion and Make it Your Job</a:t>
            </a:r>
            <a:endParaRPr lang="en-US" sz="1200" dirty="0"/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1200" kern="100" dirty="0"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 Understanding and Coping with Anxiety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5"/>
              </a:rPr>
              <a:t>Exploring Anxiety and Stress Management (Teens)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6"/>
              </a:rPr>
              <a:t>Stress Management Tips for Kids and Teens!</a:t>
            </a:r>
            <a:r>
              <a:rPr lang="en-US" sz="1200" dirty="0">
                <a:hlinkClick r:id="rId5"/>
              </a:rPr>
              <a:t> 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7"/>
              </a:rPr>
              <a:t>Teen stress from a teen perspective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8"/>
              </a:rPr>
              <a:t>How We Cope With Anxiety &amp; Stress</a:t>
            </a:r>
            <a:endParaRPr lang="en-US" altLang="zh-TW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9"/>
              </a:rPr>
              <a:t>Conquering exam stress: lessons from our bodies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0"/>
              </a:rPr>
              <a:t>What Your Grades Really Mean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1"/>
              </a:rPr>
              <a:t>Relaxation Skills for High School Students: How to Cope with Stress &amp; Anxiety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2"/>
              </a:rPr>
              <a:t>Mindfulness - Middle School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3"/>
              </a:rPr>
              <a:t>Mindfulness for High School Students</a:t>
            </a:r>
            <a:endParaRPr lang="en-US" sz="1200" dirty="0"/>
          </a:p>
          <a:p>
            <a:pPr>
              <a:buSzPts val="1000"/>
              <a:tabLst>
                <a:tab pos="457200" algn="l"/>
              </a:tabLst>
            </a:pPr>
            <a:br>
              <a:rPr lang="en-US" sz="1200" dirty="0"/>
            </a:b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Managing Emotions and Mental Health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4"/>
              </a:rPr>
              <a:t>Understanding Feelings for Middle School Students : Tips for Self-Awareness &amp; Emotional Control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5"/>
              </a:rPr>
              <a:t>Understanding Thoughts for Middle School Students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5B09671-7F51-442E-B9EF-34373804BC52}"/>
              </a:ext>
            </a:extLst>
          </p:cNvPr>
          <p:cNvSpPr txBox="1"/>
          <p:nvPr/>
        </p:nvSpPr>
        <p:spPr>
          <a:xfrm>
            <a:off x="3627220" y="264795"/>
            <a:ext cx="50186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chemeClr val="bg1"/>
                </a:solidFill>
              </a:rPr>
              <a:t>For teens—to explore future paths, build friendships, and get to know yourself.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90A5A6E-097F-450C-85D1-3F1891E97A9A}"/>
              </a:ext>
            </a:extLst>
          </p:cNvPr>
          <p:cNvSpPr txBox="1"/>
          <p:nvPr/>
        </p:nvSpPr>
        <p:spPr>
          <a:xfrm>
            <a:off x="4853483" y="1144566"/>
            <a:ext cx="38416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TW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Making Friends: Tips for Teens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6"/>
              </a:rPr>
              <a:t>Boundaries and consent for teens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r>
              <a:rPr lang="en-US" altLang="zh-TW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2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200" b="1" dirty="0">
                <a:effectLst/>
              </a:rPr>
              <a:t>Cell Phone and Social Media Addiction</a:t>
            </a:r>
            <a:endParaRPr lang="en-US" sz="12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7"/>
              </a:rPr>
              <a:t>Cell Phone Addiction</a:t>
            </a:r>
            <a:endParaRPr lang="en-US" sz="12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dirty="0">
                <a:hlinkClick r:id="rId18"/>
              </a:rPr>
              <a:t>Impact of Social Media on Youth</a:t>
            </a:r>
            <a:endParaRPr lang="en-US" sz="1200" b="1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16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6788"/>
          </a:xfrm>
          <a:prstGeom prst="rect">
            <a:avLst/>
          </a:prstGeom>
          <a:solidFill>
            <a:srgbClr val="062486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04788"/>
            <a:ext cx="780669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6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B219A79-642C-44D2-A718-E3A42819D0BC}"/>
              </a:ext>
            </a:extLst>
          </p:cNvPr>
          <p:cNvSpPr txBox="1"/>
          <p:nvPr/>
        </p:nvSpPr>
        <p:spPr>
          <a:xfrm>
            <a:off x="498119" y="295573"/>
            <a:ext cx="26013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b="1" ker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Children’s Videos</a:t>
            </a:r>
            <a:endParaRPr lang="en-US" sz="2400" kern="100">
              <a:solidFill>
                <a:schemeClr val="bg1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9FC94F9-579E-496E-9770-F8B46ACAB5AC}"/>
              </a:ext>
            </a:extLst>
          </p:cNvPr>
          <p:cNvSpPr txBox="1"/>
          <p:nvPr/>
        </p:nvSpPr>
        <p:spPr>
          <a:xfrm>
            <a:off x="149540" y="1052811"/>
            <a:ext cx="6062675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1. Understanding and Coping with Anxiety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3"/>
              </a:rPr>
              <a:t>Grounding Techniques For Kids - Grounding Exercises For Anxiety And Other Big Emotions 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4"/>
              </a:rPr>
              <a:t>Fight Flight Freeze Response-Anxiety &amp; Stress-The Downside Of The Survival Brain-How To Calm It Down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5"/>
              </a:rPr>
              <a:t>5 Tips for Coping with Test Anxiety (for kids!)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6"/>
              </a:rPr>
              <a:t>Real kids talk about coping with anxiety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7"/>
              </a:rPr>
              <a:t>Belly Breathing: Mindfulness for Children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8"/>
              </a:rPr>
              <a:t>Butterfly Hug!</a:t>
            </a:r>
            <a:br>
              <a:rPr lang="en-US" sz="1100" u="sng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 Understanding Childhood Depression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9"/>
              </a:rPr>
              <a:t>Depression For Kids - Coping Skills For Low &amp; Depressed Mood</a:t>
            </a:r>
            <a:br>
              <a:rPr lang="en-US" sz="1100" u="sng" kern="0" dirty="0">
                <a:solidFill>
                  <a:srgbClr val="0000FF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Managing Emotions and Mental Health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0"/>
              </a:rPr>
              <a:t>Anger Management for Kids: How to stay calm when you feel like blowing up!</a:t>
            </a:r>
            <a:r>
              <a:rPr lang="en-US" sz="1100" dirty="0"/>
              <a:t>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1"/>
              </a:rPr>
              <a:t>Anger Management for Kids!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2"/>
              </a:rPr>
              <a:t>Accepting NO Social Story Emotional regulation social stories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3"/>
              </a:rPr>
              <a:t>The Feelings Song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4"/>
              </a:rPr>
              <a:t>It’s OK to Feel All Kinds of Feelings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5"/>
              </a:rPr>
              <a:t>Coping with Grief (for kids)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6"/>
              </a:rPr>
              <a:t>What Mental Health Is and Why It’s Important to Take Care of It?</a:t>
            </a:r>
            <a:r>
              <a:rPr lang="en-US" sz="1100" dirty="0"/>
              <a:t> 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7"/>
              </a:rPr>
              <a:t>Stress Management Tips for Kids and Teens!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8"/>
              </a:rPr>
              <a:t>Setting Boundaries with Friends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19"/>
              </a:rPr>
              <a:t>Managing Intense Emotions - Elementary School | Child Mind Institute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FB0F34C-770B-446C-94D2-5754BF64327D}"/>
              </a:ext>
            </a:extLst>
          </p:cNvPr>
          <p:cNvSpPr txBox="1"/>
          <p:nvPr/>
        </p:nvSpPr>
        <p:spPr>
          <a:xfrm>
            <a:off x="6212215" y="1085225"/>
            <a:ext cx="274003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4. Making Friends: Tips for Kids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0"/>
              </a:rPr>
              <a:t>How To Help Your Child Make Friends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1"/>
              </a:rPr>
              <a:t>How To Teach This Is The Way We Make Friends - Social Skills Song for Kids!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2"/>
              </a:rPr>
              <a:t>Friendship Skills for Kids: Making and Keeping Friends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3"/>
              </a:rPr>
              <a:t>How To Be A Friend? 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4"/>
              </a:rPr>
              <a:t>Social Emotional Learning For Kids: Benji, the Bad Day, and Me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5"/>
              </a:rPr>
              <a:t>All About Empathy (for kids!)</a:t>
            </a:r>
            <a:endParaRPr lang="en-US" sz="1100" dirty="0"/>
          </a:p>
          <a:p>
            <a:pPr marR="0" lvl="0">
              <a:spcBef>
                <a:spcPts val="0"/>
              </a:spcBef>
              <a:spcAft>
                <a:spcPts val="0"/>
              </a:spcAft>
              <a:buSzPts val="1000"/>
              <a:tabLst>
                <a:tab pos="457200" algn="l"/>
              </a:tabLst>
            </a:pPr>
            <a:b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5. Building Social Skills for Children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6"/>
              </a:rPr>
              <a:t>I Can Get Attention Social Skills Story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7"/>
              </a:rPr>
              <a:t>Improve social skills | Kids story Social confidence | Manageable steps explained</a:t>
            </a:r>
            <a:endParaRPr lang="en-US" sz="1100" dirty="0"/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100" dirty="0">
                <a:hlinkClick r:id="rId28"/>
              </a:rPr>
              <a:t>All About Social Skill for Kids!</a:t>
            </a:r>
            <a:endParaRPr lang="en-US" sz="1100" kern="100" dirty="0">
              <a:effectLst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6BD05F9-B80D-4737-AE86-B4F50A57DBCE}"/>
              </a:ext>
            </a:extLst>
          </p:cNvPr>
          <p:cNvSpPr txBox="1"/>
          <p:nvPr/>
        </p:nvSpPr>
        <p:spPr>
          <a:xfrm>
            <a:off x="3989463" y="26479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chemeClr val="bg1"/>
                </a:solidFill>
              </a:rPr>
              <a:t>For children—to understand feelings, make friends, and build confidence.</a:t>
            </a:r>
          </a:p>
        </p:txBody>
      </p:sp>
    </p:spTree>
    <p:extLst>
      <p:ext uri="{BB962C8B-B14F-4D97-AF65-F5344CB8AC3E}">
        <p14:creationId xmlns:p14="http://schemas.microsoft.com/office/powerpoint/2010/main" val="12354397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098D923-B517-4D6F-85DF-FB96733F8CD6}"/>
              </a:ext>
            </a:extLst>
          </p:cNvPr>
          <p:cNvSpPr/>
          <p:nvPr/>
        </p:nvSpPr>
        <p:spPr>
          <a:xfrm>
            <a:off x="433237" y="326978"/>
            <a:ext cx="7760009" cy="427809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Teaching students how to manage hard feelings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what does it look like when students are experiencing anxiety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Anger, Frustration, Sadness,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Videos, sentence starters, strategies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Box breathing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Deal with anxiety, </a:t>
            </a:r>
            <a:r>
              <a:rPr lang="en-US" sz="1600" kern="1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depression</a:t>
            </a: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(what does it look like, conversation starter, how to support)</a:t>
            </a: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promoting hope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br>
              <a:rPr lang="en-US" sz="16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sz="1600" kern="100" dirty="0">
                <a:solidFill>
                  <a:srgbClr val="FF0000"/>
                </a:solidFill>
                <a:effectLst/>
                <a:latin typeface="Segoe UI" panose="020B0502040204020203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Creating Belonging, Emotional Regulation, Managing Anxiety, Managing Depression</a:t>
            </a:r>
            <a:endParaRPr lang="en-US" sz="1600" kern="100" dirty="0">
              <a:solidFill>
                <a:srgbClr val="FF0000"/>
              </a:solidFill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3988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71788" y="1786680"/>
            <a:ext cx="3395663" cy="552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800">
                <a:solidFill>
                  <a:srgbClr val="4168EF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THE END</a:t>
            </a:r>
            <a:endParaRPr lang="en-US" sz="2560">
              <a:solidFill>
                <a:srgbClr val="4168EF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2A9B7C4-113A-4382-AC0F-282DC2078ED6}"/>
              </a:ext>
            </a:extLst>
          </p:cNvPr>
          <p:cNvSpPr txBox="1"/>
          <p:nvPr/>
        </p:nvSpPr>
        <p:spPr>
          <a:xfrm>
            <a:off x="3230088" y="2133092"/>
            <a:ext cx="3230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>
                <a:solidFill>
                  <a:schemeClr val="bg1"/>
                </a:solidFill>
                <a:effectLst/>
                <a:latin typeface="Noto Sans HK" panose="020B0200000000000000" pitchFamily="34" charset="-120"/>
                <a:ea typeface="Noto Sans HK" panose="020B0200000000000000" pitchFamily="34" charset="-120"/>
              </a:rPr>
              <a:t>THANKS</a:t>
            </a:r>
            <a:endParaRPr lang="en-US" sz="4800" b="1">
              <a:solidFill>
                <a:schemeClr val="bg1"/>
              </a:solidFill>
              <a:latin typeface="Noto Sans HK" panose="020B0200000000000000" pitchFamily="34" charset="-120"/>
              <a:ea typeface="Noto Sans HK" panose="020B0200000000000000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2570</Words>
  <Application>Microsoft Office PowerPoint</Application>
  <PresentationFormat>如螢幕大小 (16:9)</PresentationFormat>
  <Paragraphs>303</Paragraphs>
  <Slides>27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5" baseType="lpstr">
      <vt:lpstr>Noto Sans HK</vt:lpstr>
      <vt:lpstr>Noto Sans SC</vt:lpstr>
      <vt:lpstr>Arial</vt:lpstr>
      <vt:lpstr>Calibri</vt:lpstr>
      <vt:lpstr>Segoe UI</vt:lpstr>
      <vt:lpstr>Symbol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a Sense of Belonging in Your Classroom: A Practical Teacher’s Guide</dc:title>
  <dc:subject>SUBTITLE HERE</dc:subject>
  <dc:creator>MindShow.fun</dc:creator>
  <cp:lastModifiedBy>Hsiang-Chen Yeh</cp:lastModifiedBy>
  <cp:revision>29</cp:revision>
  <dcterms:created xsi:type="dcterms:W3CDTF">2025-05-12T13:59:16Z</dcterms:created>
  <dcterms:modified xsi:type="dcterms:W3CDTF">2025-07-14T15:03:50Z</dcterms:modified>
</cp:coreProperties>
</file>